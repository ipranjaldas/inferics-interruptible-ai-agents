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7" roundtripDataSignature="AMtx7mgQuomGbdS/wh2yqkB/K4YAZ70YA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C4150D-3CE4-4E6F-96F8-7389409AD53E}" v="2" dt="2026-09-30T16:57:22.4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customschemas.google.com/relationships/presentationmetadata" Target="metadata"/><Relationship Id="rId2" Type="http://schemas.openxmlformats.org/officeDocument/2006/relationships/slide" Target="slides/slide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23"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owkey pranjal" userId="f7e4403e027e0b34" providerId="LiveId" clId="{699C7EA2-FA9F-4243-80F7-F0540CC3D447}"/>
    <pc:docChg chg="custSel modSld">
      <pc:chgData name="lowkey pranjal" userId="f7e4403e027e0b34" providerId="LiveId" clId="{699C7EA2-FA9F-4243-80F7-F0540CC3D447}" dt="2026-09-30T17:19:44.768" v="4" actId="313"/>
      <pc:docMkLst>
        <pc:docMk/>
      </pc:docMkLst>
      <pc:sldChg chg="modSp mod">
        <pc:chgData name="lowkey pranjal" userId="f7e4403e027e0b34" providerId="LiveId" clId="{699C7EA2-FA9F-4243-80F7-F0540CC3D447}" dt="2026-09-30T17:19:44.768" v="4" actId="313"/>
        <pc:sldMkLst>
          <pc:docMk/>
          <pc:sldMk cId="0" sldId="256"/>
        </pc:sldMkLst>
        <pc:spChg chg="mod">
          <ac:chgData name="lowkey pranjal" userId="f7e4403e027e0b34" providerId="LiveId" clId="{699C7EA2-FA9F-4243-80F7-F0540CC3D447}" dt="2026-09-30T17:19:44.768" v="4" actId="313"/>
          <ac:spMkLst>
            <pc:docMk/>
            <pc:sldMk cId="0" sldId="256"/>
            <ac:spMk id="95" creationId="{00000000-0000-0000-0000-000000000000}"/>
          </ac:spMkLst>
        </pc:spChg>
        <pc:spChg chg="mod">
          <ac:chgData name="lowkey pranjal" userId="f7e4403e027e0b34" providerId="LiveId" clId="{699C7EA2-FA9F-4243-80F7-F0540CC3D447}" dt="2026-09-30T16:57:10.470" v="2" actId="21"/>
          <ac:spMkLst>
            <pc:docMk/>
            <pc:sldMk cId="0" sldId="256"/>
            <ac:spMk id="97" creationId="{00000000-0000-0000-0000-000000000000}"/>
          </ac:spMkLst>
        </pc:spChg>
      </pc:sldChg>
      <pc:sldChg chg="modSp mod">
        <pc:chgData name="lowkey pranjal" userId="f7e4403e027e0b34" providerId="LiveId" clId="{699C7EA2-FA9F-4243-80F7-F0540CC3D447}" dt="2026-09-30T05:51:50.057" v="0" actId="1076"/>
        <pc:sldMkLst>
          <pc:docMk/>
          <pc:sldMk cId="0" sldId="260"/>
        </pc:sldMkLst>
        <pc:spChg chg="mod">
          <ac:chgData name="lowkey pranjal" userId="f7e4403e027e0b34" providerId="LiveId" clId="{699C7EA2-FA9F-4243-80F7-F0540CC3D447}" dt="2026-09-30T05:51:50.057" v="0" actId="1076"/>
          <ac:spMkLst>
            <pc:docMk/>
            <pc:sldMk cId="0" sldId="260"/>
            <ac:spMk id="124"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
        <p:cNvGrpSpPr/>
        <p:nvPr/>
      </p:nvGrpSpPr>
      <p:grpSpPr>
        <a:xfrm>
          <a:off x="0" y="0"/>
          <a:ext cx="0" cy="0"/>
          <a:chOff x="0" y="0"/>
          <a:chExt cx="0" cy="0"/>
        </a:xfrm>
      </p:grpSpPr>
      <p:sp>
        <p:nvSpPr>
          <p:cNvPr id="86" name="Google Shape;86;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7" name="Google Shape;8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8" name="Google Shape;88;p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2: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9" name="Google Shape;9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5" name="Google Shape;105;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p4: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1" name="Google Shape;111;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p5: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7" name="Google Shape;117;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6: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7: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9" name="Google Shape;12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8: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5" name="Google Shape;13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9: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1" name="Google Shape;141;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10: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7" name="Google Shape;147;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11:notes"/>
          <p:cNvSpPr txBox="1">
            <a:spLocks noGrp="1"/>
          </p:cNvSpPr>
          <p:nvPr>
            <p:ph type="body" idx="1"/>
          </p:nvPr>
        </p:nvSpPr>
        <p:spPr>
          <a:xfrm>
            <a:off x="685800" y="4400550"/>
            <a:ext cx="5486400" cy="36004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3" name="Google Shape;153;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p1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r>
              <a:rPr lang="en-US"/>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endParaRPr/>
          </a:p>
        </p:txBody>
      </p:sp>
      <p:sp>
        <p:nvSpPr>
          <p:cNvPr id="160" name="Google Shape;160;p1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5"/>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 name="Google Shape;18;p1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9" name="Google Shape;19;p1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1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2"/>
        <p:cNvGrpSpPr/>
        <p:nvPr/>
      </p:nvGrpSpPr>
      <p:grpSpPr>
        <a:xfrm>
          <a:off x="0" y="0"/>
          <a:ext cx="0" cy="0"/>
          <a:chOff x="0" y="0"/>
          <a:chExt cx="0" cy="0"/>
        </a:xfrm>
      </p:grpSpPr>
      <p:sp>
        <p:nvSpPr>
          <p:cNvPr id="23" name="Google Shape;23;p16"/>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16"/>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25" name="Google Shape;25;p1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1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1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8"/>
        <p:cNvGrpSpPr/>
        <p:nvPr/>
      </p:nvGrpSpPr>
      <p:grpSpPr>
        <a:xfrm>
          <a:off x="0" y="0"/>
          <a:ext cx="0" cy="0"/>
          <a:chOff x="0" y="0"/>
          <a:chExt cx="0" cy="0"/>
        </a:xfrm>
      </p:grpSpPr>
      <p:sp>
        <p:nvSpPr>
          <p:cNvPr id="29" name="Google Shape;29;p17"/>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0" name="Google Shape;30;p17"/>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31" name="Google Shape;31;p1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1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3" name="Google Shape;33;p1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4"/>
        <p:cNvGrpSpPr/>
        <p:nvPr/>
      </p:nvGrpSpPr>
      <p:grpSpPr>
        <a:xfrm>
          <a:off x="0" y="0"/>
          <a:ext cx="0" cy="0"/>
          <a:chOff x="0" y="0"/>
          <a:chExt cx="0" cy="0"/>
        </a:xfrm>
      </p:grpSpPr>
      <p:sp>
        <p:nvSpPr>
          <p:cNvPr id="35" name="Google Shape;35;p1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 name="Google Shape;36;p18"/>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7" name="Google Shape;37;p18"/>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8" name="Google Shape;38;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1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0" name="Google Shape;40;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1"/>
        <p:cNvGrpSpPr/>
        <p:nvPr/>
      </p:nvGrpSpPr>
      <p:grpSpPr>
        <a:xfrm>
          <a:off x="0" y="0"/>
          <a:ext cx="0" cy="0"/>
          <a:chOff x="0" y="0"/>
          <a:chExt cx="0" cy="0"/>
        </a:xfrm>
      </p:grpSpPr>
      <p:sp>
        <p:nvSpPr>
          <p:cNvPr id="42" name="Google Shape;42;p19"/>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3" name="Google Shape;43;p19"/>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4" name="Google Shape;44;p19"/>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5" name="Google Shape;45;p19"/>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6" name="Google Shape;46;p19"/>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7" name="Google Shape;47;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1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0"/>
        <p:cNvGrpSpPr/>
        <p:nvPr/>
      </p:nvGrpSpPr>
      <p:grpSpPr>
        <a:xfrm>
          <a:off x="0" y="0"/>
          <a:ext cx="0" cy="0"/>
          <a:chOff x="0" y="0"/>
          <a:chExt cx="0" cy="0"/>
        </a:xfrm>
      </p:grpSpPr>
      <p:sp>
        <p:nvSpPr>
          <p:cNvPr id="51" name="Google Shape;51;p2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2" name="Google Shape;52;p2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4" name="Google Shape;54;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5"/>
        <p:cNvGrpSpPr/>
        <p:nvPr/>
      </p:nvGrpSpPr>
      <p:grpSpPr>
        <a:xfrm>
          <a:off x="0" y="0"/>
          <a:ext cx="0" cy="0"/>
          <a:chOff x="0" y="0"/>
          <a:chExt cx="0" cy="0"/>
        </a:xfrm>
      </p:grpSpPr>
      <p:sp>
        <p:nvSpPr>
          <p:cNvPr id="56" name="Google Shape;56;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7" name="Google Shape;57;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8" name="Google Shape;58;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9"/>
        <p:cNvGrpSpPr/>
        <p:nvPr/>
      </p:nvGrpSpPr>
      <p:grpSpPr>
        <a:xfrm>
          <a:off x="0" y="0"/>
          <a:ext cx="0" cy="0"/>
          <a:chOff x="0" y="0"/>
          <a:chExt cx="0" cy="0"/>
        </a:xfrm>
      </p:grpSpPr>
      <p:sp>
        <p:nvSpPr>
          <p:cNvPr id="60" name="Google Shape;60;p2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1" name="Google Shape;61;p22"/>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62" name="Google Shape;62;p22"/>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3" name="Google Shape;63;p2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4" name="Google Shape;64;p2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2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6"/>
        <p:cNvGrpSpPr/>
        <p:nvPr/>
      </p:nvGrpSpPr>
      <p:grpSpPr>
        <a:xfrm>
          <a:off x="0" y="0"/>
          <a:ext cx="0" cy="0"/>
          <a:chOff x="0" y="0"/>
          <a:chExt cx="0" cy="0"/>
        </a:xfrm>
      </p:grpSpPr>
      <p:sp>
        <p:nvSpPr>
          <p:cNvPr id="67" name="Google Shape;67;p23"/>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8" name="Google Shape;68;p23"/>
          <p:cNvSpPr>
            <a:spLocks noGrp="1"/>
          </p:cNvSpPr>
          <p:nvPr>
            <p:ph type="pic" idx="2"/>
          </p:nvPr>
        </p:nvSpPr>
        <p:spPr>
          <a:xfrm>
            <a:off x="5183188" y="987425"/>
            <a:ext cx="6172200" cy="4873625"/>
          </a:xfrm>
          <a:prstGeom prst="rect">
            <a:avLst/>
          </a:prstGeom>
          <a:noFill/>
          <a:ln>
            <a:noFill/>
          </a:ln>
        </p:spPr>
      </p:sp>
      <p:sp>
        <p:nvSpPr>
          <p:cNvPr id="69" name="Google Shape;69;p23"/>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70" name="Google Shape;7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1" name="Google Shape;7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3"/>
        <p:cNvGrpSpPr/>
        <p:nvPr/>
      </p:nvGrpSpPr>
      <p:grpSpPr>
        <a:xfrm>
          <a:off x="0" y="0"/>
          <a:ext cx="0" cy="0"/>
          <a:chOff x="0" y="0"/>
          <a:chExt cx="0" cy="0"/>
        </a:xfrm>
      </p:grpSpPr>
      <p:sp>
        <p:nvSpPr>
          <p:cNvPr id="74" name="Google Shape;74;p2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5" name="Google Shape;75;p24"/>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7" name="Google Shape;7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9"/>
        <p:cNvGrpSpPr/>
        <p:nvPr/>
      </p:nvGrpSpPr>
      <p:grpSpPr>
        <a:xfrm>
          <a:off x="0" y="0"/>
          <a:ext cx="0" cy="0"/>
          <a:chOff x="0" y="0"/>
          <a:chExt cx="0" cy="0"/>
        </a:xfrm>
      </p:grpSpPr>
      <p:sp>
        <p:nvSpPr>
          <p:cNvPr id="80" name="Google Shape;80;p25"/>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81" name="Google Shape;81;p25"/>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3" name="Google Shape;83;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4" name="Google Shape;84;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 name="Google Shape;12;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1"/>
          <p:cNvSpPr/>
          <p:nvPr/>
        </p:nvSpPr>
        <p:spPr>
          <a:xfrm>
            <a:off x="777240" y="676656"/>
            <a:ext cx="2423160" cy="347472"/>
          </a:xfrm>
          <a:prstGeom prst="roundRect">
            <a:avLst>
              <a:gd name="adj" fmla="val 50000"/>
            </a:avLst>
          </a:prstGeom>
          <a:solidFill>
            <a:srgbClr val="FFFFFF"/>
          </a:solidFill>
          <a:ln w="12700" cap="flat" cmpd="sng">
            <a:solidFill>
              <a:srgbClr val="D9D3F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1" name="Google Shape;91;p1"/>
          <p:cNvSpPr txBox="1"/>
          <p:nvPr/>
        </p:nvSpPr>
        <p:spPr>
          <a:xfrm>
            <a:off x="777240" y="676656"/>
            <a:ext cx="2423160"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6D28D9"/>
              </a:buClr>
              <a:buSzPts val="1100"/>
              <a:buFont typeface="Arial"/>
              <a:buNone/>
            </a:pPr>
            <a:r>
              <a:rPr lang="en-US" sz="1100" b="1" i="0" u="none" strike="noStrike" cap="none">
                <a:solidFill>
                  <a:srgbClr val="6D28D9"/>
                </a:solidFill>
                <a:latin typeface="Arial"/>
                <a:ea typeface="Arial"/>
                <a:cs typeface="Arial"/>
                <a:sym typeface="Arial"/>
              </a:rPr>
              <a:t>SAMSUNG PRISM</a:t>
            </a:r>
            <a:endParaRPr sz="1100" b="0" i="0" u="none" strike="noStrike" cap="none">
              <a:solidFill>
                <a:schemeClr val="dk1"/>
              </a:solidFill>
              <a:latin typeface="Calibri"/>
              <a:ea typeface="Calibri"/>
              <a:cs typeface="Calibri"/>
              <a:sym typeface="Calibri"/>
            </a:endParaRPr>
          </a:p>
        </p:txBody>
      </p:sp>
      <p:sp>
        <p:nvSpPr>
          <p:cNvPr id="92" name="Google Shape;92;p1"/>
          <p:cNvSpPr txBox="1"/>
          <p:nvPr/>
        </p:nvSpPr>
        <p:spPr>
          <a:xfrm>
            <a:off x="777240" y="1207008"/>
            <a:ext cx="61264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5000"/>
              <a:buFont typeface="Arial"/>
              <a:buNone/>
            </a:pPr>
            <a:r>
              <a:rPr lang="en-US" sz="5000" b="1" i="0" u="none" strike="noStrike" cap="none">
                <a:solidFill>
                  <a:srgbClr val="14142B"/>
                </a:solidFill>
                <a:latin typeface="Arial"/>
                <a:ea typeface="Arial"/>
                <a:cs typeface="Arial"/>
                <a:sym typeface="Arial"/>
              </a:rPr>
              <a:t>Generative AI</a:t>
            </a:r>
            <a:endParaRPr sz="5000" b="0" i="0" u="none" strike="noStrike" cap="none">
              <a:solidFill>
                <a:schemeClr val="dk1"/>
              </a:solidFill>
              <a:latin typeface="Calibri"/>
              <a:ea typeface="Calibri"/>
              <a:cs typeface="Calibri"/>
              <a:sym typeface="Calibri"/>
            </a:endParaRPr>
          </a:p>
        </p:txBody>
      </p:sp>
      <p:sp>
        <p:nvSpPr>
          <p:cNvPr id="93" name="Google Shape;93;p1"/>
          <p:cNvSpPr txBox="1"/>
          <p:nvPr/>
        </p:nvSpPr>
        <p:spPr>
          <a:xfrm>
            <a:off x="777240" y="1901952"/>
            <a:ext cx="6126480" cy="7498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D28D9"/>
              </a:buClr>
              <a:buSzPts val="5000"/>
              <a:buFont typeface="Arial"/>
              <a:buNone/>
            </a:pPr>
            <a:r>
              <a:rPr lang="en-US" sz="5000" b="1" i="0" u="none" strike="noStrike" cap="none">
                <a:solidFill>
                  <a:srgbClr val="6D28D9"/>
                </a:solidFill>
                <a:latin typeface="Arial"/>
                <a:ea typeface="Arial"/>
                <a:cs typeface="Arial"/>
                <a:sym typeface="Arial"/>
              </a:rPr>
              <a:t>Hackathon</a:t>
            </a:r>
            <a:endParaRPr sz="5000" b="0" i="0" u="none" strike="noStrike" cap="none">
              <a:solidFill>
                <a:schemeClr val="dk1"/>
              </a:solidFill>
              <a:latin typeface="Calibri"/>
              <a:ea typeface="Calibri"/>
              <a:cs typeface="Calibri"/>
              <a:sym typeface="Calibri"/>
            </a:endParaRPr>
          </a:p>
        </p:txBody>
      </p:sp>
      <p:sp>
        <p:nvSpPr>
          <p:cNvPr id="94" name="Google Shape;94;p1"/>
          <p:cNvSpPr txBox="1"/>
          <p:nvPr/>
        </p:nvSpPr>
        <p:spPr>
          <a:xfrm>
            <a:off x="777240" y="2724912"/>
            <a:ext cx="6126480" cy="45720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4142B"/>
              </a:buClr>
              <a:buSzPts val="2500"/>
              <a:buFont typeface="Arial"/>
              <a:buNone/>
            </a:pPr>
            <a:r>
              <a:rPr lang="en-US" sz="2500" b="1" i="0" u="none" strike="noStrike" cap="none">
                <a:solidFill>
                  <a:srgbClr val="14142B"/>
                </a:solidFill>
                <a:latin typeface="Arial"/>
                <a:ea typeface="Arial"/>
                <a:cs typeface="Arial"/>
                <a:sym typeface="Arial"/>
              </a:rPr>
              <a:t>3rd Edition</a:t>
            </a:r>
            <a:r>
              <a:rPr lang="en-US" sz="2000" b="0" i="0" u="none" strike="noStrike" cap="none">
                <a:solidFill>
                  <a:srgbClr val="63637E"/>
                </a:solidFill>
                <a:latin typeface="Calibri"/>
                <a:ea typeface="Calibri"/>
                <a:cs typeface="Calibri"/>
                <a:sym typeface="Calibri"/>
              </a:rPr>
              <a:t>   2026 – 27</a:t>
            </a:r>
            <a:endParaRPr sz="2500" b="0" i="0" u="none" strike="noStrike" cap="none">
              <a:solidFill>
                <a:schemeClr val="dk1"/>
              </a:solidFill>
              <a:latin typeface="Calibri"/>
              <a:ea typeface="Calibri"/>
              <a:cs typeface="Calibri"/>
              <a:sym typeface="Calibri"/>
            </a:endParaRPr>
          </a:p>
        </p:txBody>
      </p:sp>
      <p:sp>
        <p:nvSpPr>
          <p:cNvPr id="95" name="Google Shape;95;p1"/>
          <p:cNvSpPr txBox="1"/>
          <p:nvPr/>
        </p:nvSpPr>
        <p:spPr>
          <a:xfrm>
            <a:off x="777240" y="3291840"/>
            <a:ext cx="6217920" cy="3291840"/>
          </a:xfrm>
          <a:prstGeom prst="rect">
            <a:avLst/>
          </a:prstGeom>
          <a:noFill/>
          <a:ln>
            <a:noFill/>
          </a:ln>
        </p:spPr>
        <p:txBody>
          <a:bodyPr spcFirstLastPara="1" wrap="square" lIns="0" tIns="0" rIns="0" bIns="0" anchor="t" anchorCtr="0">
            <a:noAutofit/>
          </a:bodyPr>
          <a:lstStyle/>
          <a:p>
            <a:pPr marL="177800" marR="0" lvl="0" indent="-177800" algn="l" rtl="0">
              <a:spcBef>
                <a:spcPts val="0"/>
              </a:spcBef>
              <a:spcAft>
                <a:spcPts val="300"/>
              </a:spcAft>
              <a:buClr>
                <a:srgbClr val="63637E"/>
              </a:buClr>
              <a:buSzPts val="1600"/>
              <a:buFont typeface="Calibri"/>
              <a:buChar char="•"/>
            </a:pPr>
            <a:r>
              <a:rPr sz="1100" b="1" i="0" dirty="0">
                <a:solidFill>
                  <a:srgbClr val="704EA6"/>
                </a:solidFill>
                <a:latin typeface="Calibri"/>
              </a:rPr>
              <a:t>Theme ID - </a:t>
            </a:r>
            <a:r>
              <a:rPr sz="1050" b="0" i="0" dirty="0">
                <a:solidFill>
                  <a:srgbClr val="14142B"/>
                </a:solidFill>
                <a:latin typeface="Calibri"/>
              </a:rPr>
              <a:t>05 (Interruptible Real-Time Agents)</a:t>
            </a:r>
            <a:endParaRPr dirty="0"/>
          </a:p>
          <a:p>
            <a:pPr algn="l">
              <a:spcBef>
                <a:spcPts val="0"/>
              </a:spcBef>
              <a:spcAft>
                <a:spcPts val="300"/>
              </a:spcAft>
            </a:pPr>
            <a:r>
              <a:rPr sz="1100" b="1" i="0" dirty="0">
                <a:solidFill>
                  <a:srgbClr val="704EA6"/>
                </a:solidFill>
                <a:latin typeface="Calibri"/>
              </a:rPr>
              <a:t>Team Name - </a:t>
            </a:r>
            <a:r>
              <a:rPr sz="1050" b="0" i="0" dirty="0">
                <a:solidFill>
                  <a:srgbClr val="14142B"/>
                </a:solidFill>
                <a:latin typeface="Calibri"/>
              </a:rPr>
              <a:t>INFERICS</a:t>
            </a:r>
          </a:p>
          <a:p>
            <a:pPr algn="l">
              <a:spcBef>
                <a:spcPts val="0"/>
              </a:spcBef>
              <a:spcAft>
                <a:spcPts val="300"/>
              </a:spcAft>
            </a:pPr>
            <a:r>
              <a:rPr sz="1100" b="1" i="0" dirty="0">
                <a:solidFill>
                  <a:srgbClr val="704EA6"/>
                </a:solidFill>
                <a:latin typeface="Calibri"/>
              </a:rPr>
              <a:t>College Name - </a:t>
            </a:r>
            <a:r>
              <a:rPr sz="1050" b="0" i="0" dirty="0">
                <a:solidFill>
                  <a:srgbClr val="14142B"/>
                </a:solidFill>
                <a:latin typeface="Calibri"/>
              </a:rPr>
              <a:t>SRM KTR</a:t>
            </a:r>
          </a:p>
          <a:p>
            <a:pPr algn="l">
              <a:spcBef>
                <a:spcPts val="0"/>
              </a:spcBef>
              <a:spcAft>
                <a:spcPts val="300"/>
              </a:spcAft>
            </a:pPr>
            <a:r>
              <a:rPr sz="1100" b="1" i="0" dirty="0">
                <a:solidFill>
                  <a:srgbClr val="704EA6"/>
                </a:solidFill>
                <a:latin typeface="Calibri"/>
              </a:rPr>
              <a:t>Member Name &amp; Email 1 - </a:t>
            </a:r>
            <a:r>
              <a:rPr sz="1050" b="0" i="0" dirty="0">
                <a:solidFill>
                  <a:srgbClr val="14142B"/>
                </a:solidFill>
                <a:latin typeface="Calibri"/>
              </a:rPr>
              <a:t>Pranjal Das, pd2964@srmist.edu.in</a:t>
            </a:r>
          </a:p>
          <a:p>
            <a:pPr algn="l">
              <a:spcBef>
                <a:spcPts val="0"/>
              </a:spcBef>
              <a:spcAft>
                <a:spcPts val="300"/>
              </a:spcAft>
            </a:pPr>
            <a:r>
              <a:rPr sz="1100" b="1" i="0" dirty="0">
                <a:solidFill>
                  <a:srgbClr val="704EA6"/>
                </a:solidFill>
                <a:latin typeface="Calibri"/>
              </a:rPr>
              <a:t>Member Name &amp; Email 2 - </a:t>
            </a:r>
            <a:r>
              <a:rPr sz="1050" b="0" i="0" dirty="0">
                <a:solidFill>
                  <a:srgbClr val="14142B"/>
                </a:solidFill>
                <a:latin typeface="Calibri"/>
              </a:rPr>
              <a:t>Samson Zacharia Joseph, sj6801@srmist.edu.in</a:t>
            </a:r>
          </a:p>
          <a:p>
            <a:pPr algn="l">
              <a:spcBef>
                <a:spcPts val="0"/>
              </a:spcBef>
              <a:spcAft>
                <a:spcPts val="300"/>
              </a:spcAft>
            </a:pPr>
            <a:r>
              <a:rPr sz="1100" b="1" i="0" dirty="0">
                <a:solidFill>
                  <a:srgbClr val="704EA6"/>
                </a:solidFill>
                <a:latin typeface="Calibri"/>
              </a:rPr>
              <a:t>Member Name &amp; Email 3 - </a:t>
            </a:r>
            <a:r>
              <a:rPr sz="1050" b="0" i="0" dirty="0">
                <a:solidFill>
                  <a:srgbClr val="14142B"/>
                </a:solidFill>
                <a:latin typeface="Calibri"/>
              </a:rPr>
              <a:t>Disha Jain, dj2690@srmist.edu.in</a:t>
            </a:r>
          </a:p>
          <a:p>
            <a:pPr algn="l">
              <a:spcBef>
                <a:spcPts val="0"/>
              </a:spcBef>
              <a:spcAft>
                <a:spcPts val="300"/>
              </a:spcAft>
            </a:pPr>
            <a:r>
              <a:rPr sz="1100" b="1" i="0" dirty="0">
                <a:solidFill>
                  <a:srgbClr val="704EA6"/>
                </a:solidFill>
                <a:latin typeface="Calibri"/>
              </a:rPr>
              <a:t>Member Name &amp; Email 4 - </a:t>
            </a:r>
            <a:r>
              <a:rPr sz="1050" b="0" i="0" dirty="0">
                <a:solidFill>
                  <a:srgbClr val="14142B"/>
                </a:solidFill>
                <a:latin typeface="Calibri"/>
              </a:rPr>
              <a:t>—</a:t>
            </a:r>
          </a:p>
          <a:p>
            <a:pPr algn="l">
              <a:spcBef>
                <a:spcPts val="0"/>
              </a:spcBef>
              <a:spcAft>
                <a:spcPts val="300"/>
              </a:spcAft>
            </a:pPr>
            <a:r>
              <a:rPr sz="1100" b="1" i="0" dirty="0">
                <a:solidFill>
                  <a:srgbClr val="704EA6"/>
                </a:solidFill>
                <a:latin typeface="Calibri"/>
              </a:rPr>
              <a:t>Submission GitHub link - </a:t>
            </a:r>
            <a:r>
              <a:rPr sz="1050" b="0" i="0" dirty="0">
                <a:solidFill>
                  <a:srgbClr val="14142B"/>
                </a:solidFill>
                <a:latin typeface="Calibri"/>
              </a:rPr>
              <a:t>https://github.com/iPranjalDas/samsung-prism-genai-hackathon (Tag: PRISM_GENAI_HACKATHON_Y2026)</a:t>
            </a:r>
          </a:p>
          <a:p>
            <a:pPr algn="l">
              <a:spcBef>
                <a:spcPts val="0"/>
              </a:spcBef>
              <a:spcAft>
                <a:spcPts val="300"/>
              </a:spcAft>
            </a:pPr>
            <a:r>
              <a:rPr sz="1100" b="1" i="0" dirty="0">
                <a:solidFill>
                  <a:srgbClr val="704EA6"/>
                </a:solidFill>
                <a:latin typeface="Calibri"/>
              </a:rPr>
              <a:t>Live Production Cloud - </a:t>
            </a:r>
            <a:r>
              <a:rPr sz="1050" b="0" i="0" dirty="0">
                <a:solidFill>
                  <a:srgbClr val="14142B"/>
                </a:solidFill>
                <a:latin typeface="Calibri"/>
              </a:rPr>
              <a:t>https://samsung-galaxy-ai.vercel.app</a:t>
            </a:r>
          </a:p>
        </p:txBody>
      </p:sp>
      <p:pic>
        <p:nvPicPr>
          <p:cNvPr id="96" name="Google Shape;96;p1" descr="hero_network.png"/>
          <p:cNvPicPr preferRelativeResize="0"/>
          <p:nvPr/>
        </p:nvPicPr>
        <p:blipFill rotWithShape="1">
          <a:blip r:embed="rId3">
            <a:alphaModFix/>
          </a:blip>
          <a:srcRect/>
          <a:stretch/>
        </p:blipFill>
        <p:spPr>
          <a:xfrm>
            <a:off x="7059168" y="1051560"/>
            <a:ext cx="4572000" cy="4572000"/>
          </a:xfrm>
          <a:prstGeom prst="rect">
            <a:avLst/>
          </a:prstGeom>
          <a:noFill/>
          <a:ln>
            <a:noFill/>
          </a:ln>
        </p:spPr>
      </p:pic>
      <p:sp>
        <p:nvSpPr>
          <p:cNvPr id="97" name="Rounded Rectangle 96"/>
          <p:cNvSpPr/>
          <p:nvPr/>
        </p:nvSpPr>
        <p:spPr>
          <a:xfrm>
            <a:off x="777240" y="5477256"/>
            <a:ext cx="5943600" cy="347472"/>
          </a:xfrm>
          <a:prstGeom prst="roundRect">
            <a:avLst/>
          </a:prstGeom>
          <a:solidFill>
            <a:srgbClr val="EEEBF6"/>
          </a:solidFill>
          <a:ln w="12700">
            <a:solidFill>
              <a:srgbClr val="704EA6"/>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spcBef>
                <a:spcPts val="0"/>
              </a:spcBef>
              <a:spcAft>
                <a:spcPts val="400"/>
              </a:spcAft>
            </a:pPr>
            <a:r>
              <a:rPr sz="1050" b="1" i="1" dirty="0">
                <a:solidFill>
                  <a:srgbClr val="522E88"/>
                </a:solidFill>
                <a:latin typeface="Calibri"/>
              </a:rPr>
              <a:t>"An operating system for real-time agentic conversations that thinks while listening."</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Theme</a:t>
            </a:r>
            <a:endParaRPr/>
          </a:p>
        </p:txBody>
      </p:sp>
      <p:sp>
        <p:nvSpPr>
          <p:cNvPr id="102" name="Google Shape;102;p2"/>
          <p:cNvSpPr txBox="1">
            <a:spLocks noGrp="1"/>
          </p:cNvSpPr>
          <p:nvPr>
            <p:ph type="body" idx="1"/>
          </p:nvPr>
        </p:nvSpPr>
        <p:spPr>
          <a:xfrm>
            <a:off x="841248" y="1508760"/>
            <a:ext cx="10515600" cy="201168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600"/>
              </a:spcAft>
              <a:buClr>
                <a:schemeClr val="dk1"/>
              </a:buClr>
              <a:buSzPts val="2800"/>
              <a:buNone/>
            </a:pPr>
            <a:r>
              <a:rPr sz="1300" b="1" i="0">
                <a:solidFill>
                  <a:srgbClr val="704EA6"/>
                </a:solidFill>
                <a:latin typeface="Calibri"/>
              </a:rPr>
              <a:t>Objective: </a:t>
            </a:r>
            <a:r>
              <a:rPr sz="1150" b="0" i="0">
                <a:solidFill>
                  <a:srgbClr val="14142B"/>
                </a:solidFill>
                <a:latin typeface="Calibri"/>
              </a:rPr>
              <a:t>Architect a fully responsive, interruptible conversational agent system capable of natural full-duplex human-machine dialogue without conversational breakdown, frozen event loops, or phantom state mutations.</a:t>
            </a:r>
            <a:endParaRPr/>
          </a:p>
          <a:p>
            <a:pPr algn="l">
              <a:spcBef>
                <a:spcPts val="0"/>
              </a:spcBef>
              <a:spcAft>
                <a:spcPts val="300"/>
              </a:spcAft>
            </a:pPr>
            <a:r>
              <a:rPr sz="1250" b="1" i="0">
                <a:solidFill>
                  <a:srgbClr val="704EA6"/>
                </a:solidFill>
                <a:latin typeface="Calibri"/>
              </a:rPr>
              <a:t>The Samsung Protocol Mandate:</a:t>
            </a:r>
          </a:p>
          <a:p>
            <a:pPr algn="l">
              <a:spcBef>
                <a:spcPts val="0"/>
              </a:spcBef>
              <a:spcAft>
                <a:spcPts val="200"/>
              </a:spcAft>
            </a:pPr>
            <a:r>
              <a:rPr sz="1100" b="1" i="0">
                <a:solidFill>
                  <a:srgbClr val="522E88"/>
                </a:solidFill>
                <a:latin typeface="Calibri"/>
              </a:rPr>
              <a:t>• Concurrent Listening &amp; Articulation: </a:t>
            </a:r>
            <a:r>
              <a:rPr sz="1050" b="0" i="0">
                <a:solidFill>
                  <a:srgbClr val="333348"/>
                </a:solidFill>
                <a:latin typeface="Calibri"/>
              </a:rPr>
              <a:t>Agent speaks while actively analyzing continuous incoming audio PCM frames and ISOCELL video frames.</a:t>
            </a:r>
          </a:p>
          <a:p>
            <a:pPr algn="l">
              <a:spcBef>
                <a:spcPts val="0"/>
              </a:spcBef>
              <a:spcAft>
                <a:spcPts val="200"/>
              </a:spcAft>
            </a:pPr>
            <a:r>
              <a:rPr sz="1100" b="1" i="0">
                <a:solidFill>
                  <a:srgbClr val="522E88"/>
                </a:solidFill>
                <a:latin typeface="Calibri"/>
              </a:rPr>
              <a:t>• Instantaneous Turn-Taking &amp; Floor Transfer: </a:t>
            </a:r>
            <a:r>
              <a:rPr sz="1050" b="0" i="0">
                <a:solidFill>
                  <a:srgbClr val="333348"/>
                </a:solidFill>
                <a:latin typeface="Calibri"/>
              </a:rPr>
              <a:t>Human barge-in acknowledged in milliseconds, halting downstream generation without stutter.</a:t>
            </a:r>
          </a:p>
          <a:p>
            <a:pPr algn="l">
              <a:spcBef>
                <a:spcPts val="0"/>
              </a:spcBef>
              <a:spcAft>
                <a:spcPts val="200"/>
              </a:spcAft>
            </a:pPr>
            <a:r>
              <a:rPr sz="1100" b="1" i="0">
                <a:solidFill>
                  <a:srgbClr val="522E88"/>
                </a:solidFill>
                <a:latin typeface="Calibri"/>
              </a:rPr>
              <a:t>• Formal State Consistency: </a:t>
            </a:r>
            <a:r>
              <a:rPr sz="1050" b="0" i="0">
                <a:solidFill>
                  <a:srgbClr val="333348"/>
                </a:solidFill>
                <a:latin typeface="Calibri"/>
              </a:rPr>
              <a:t>Mid-sentence corrections atomically repair slot values while guaranteeing zero phantom external side effects.</a:t>
            </a:r>
          </a:p>
        </p:txBody>
      </p:sp>
      <p:graphicFrame>
        <p:nvGraphicFramePr>
          <p:cNvPr id="103" name="Table 102"/>
          <p:cNvGraphicFramePr>
            <a:graphicFrameLocks noGrp="1"/>
          </p:cNvGraphicFramePr>
          <p:nvPr/>
        </p:nvGraphicFramePr>
        <p:xfrm>
          <a:off x="841248" y="3657600"/>
          <a:ext cx="10515600" cy="2651760"/>
        </p:xfrm>
        <a:graphic>
          <a:graphicData uri="http://schemas.openxmlformats.org/drawingml/2006/table">
            <a:tbl>
              <a:tblPr firstRow="1" bandRow="1">
                <a:tableStyleId>{5C22544A-7EE6-4342-B048-85BDC9FD1C3A}</a:tableStyleId>
              </a:tblPr>
              <a:tblGrid>
                <a:gridCol w="201168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466344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441960">
                <a:tc>
                  <a:txBody>
                    <a:bodyPr/>
                    <a:lstStyle/>
                    <a:p>
                      <a:pPr algn="l"/>
                      <a:r>
                        <a:rPr sz="1100" b="1">
                          <a:solidFill>
                            <a:srgbClr val="FFFFFF"/>
                          </a:solidFill>
                          <a:latin typeface="Calibri"/>
                        </a:rPr>
                        <a:t>Evaluation Metric</a:t>
                      </a:r>
                    </a:p>
                  </a:txBody>
                  <a:tcPr marL="73152" marR="73152" marT="54864" marB="54864" anchor="ctr">
                    <a:solidFill>
                      <a:srgbClr val="704EA6"/>
                    </a:solidFill>
                  </a:tcPr>
                </a:tc>
                <a:tc>
                  <a:txBody>
                    <a:bodyPr/>
                    <a:lstStyle/>
                    <a:p>
                      <a:pPr algn="l"/>
                      <a:r>
                        <a:rPr sz="1100" b="1">
                          <a:solidFill>
                            <a:srgbClr val="FFFFFF"/>
                          </a:solidFill>
                          <a:latin typeface="Calibri"/>
                        </a:rPr>
                        <a:t>Rubric Weight</a:t>
                      </a:r>
                    </a:p>
                  </a:txBody>
                  <a:tcPr marL="73152" marR="73152" marT="54864" marB="54864" anchor="ctr">
                    <a:solidFill>
                      <a:srgbClr val="704EA6"/>
                    </a:solidFill>
                  </a:tcPr>
                </a:tc>
                <a:tc>
                  <a:txBody>
                    <a:bodyPr/>
                    <a:lstStyle/>
                    <a:p>
                      <a:pPr algn="l"/>
                      <a:r>
                        <a:rPr sz="1100" b="1">
                          <a:solidFill>
                            <a:srgbClr val="FFFFFF"/>
                          </a:solidFill>
                          <a:latin typeface="Calibri"/>
                        </a:rPr>
                        <a:t>Samsung Protocol Requirement</a:t>
                      </a:r>
                    </a:p>
                  </a:txBody>
                  <a:tcPr marL="73152" marR="73152" marT="54864" marB="54864" anchor="ctr">
                    <a:solidFill>
                      <a:srgbClr val="704EA6"/>
                    </a:solidFill>
                  </a:tcPr>
                </a:tc>
                <a:tc>
                  <a:txBody>
                    <a:bodyPr/>
                    <a:lstStyle/>
                    <a:p>
                      <a:pPr algn="l"/>
                      <a:r>
                        <a:rPr sz="1100" b="1">
                          <a:solidFill>
                            <a:srgbClr val="FFFFFF"/>
                          </a:solidFill>
                          <a:latin typeface="Calibri"/>
                        </a:rPr>
                        <a:t>INFERICS Pulse Guarantee</a:t>
                      </a:r>
                    </a:p>
                  </a:txBody>
                  <a:tcPr marL="73152" marR="73152" marT="54864" marB="54864" anchor="ctr">
                    <a:solidFill>
                      <a:srgbClr val="704EA6"/>
                    </a:solidFill>
                  </a:tcPr>
                </a:tc>
                <a:extLst>
                  <a:ext uri="{0D108BD9-81ED-4DB2-BD59-A6C34878D82A}">
                    <a16:rowId xmlns:a16="http://schemas.microsoft.com/office/drawing/2014/main" val="10000"/>
                  </a:ext>
                </a:extLst>
              </a:tr>
              <a:tr h="441960">
                <a:tc>
                  <a:txBody>
                    <a:bodyPr/>
                    <a:lstStyle/>
                    <a:p>
                      <a:pPr algn="l"/>
                      <a:r>
                        <a:rPr sz="1000" b="1">
                          <a:solidFill>
                            <a:srgbClr val="14142B"/>
                          </a:solidFill>
                          <a:latin typeface="Calibri"/>
                        </a:rPr>
                        <a:t>Task Completion</a:t>
                      </a:r>
                    </a:p>
                  </a:txBody>
                  <a:tcPr marL="73152" marR="73152" anchor="ctr">
                    <a:solidFill>
                      <a:srgbClr val="FFFFFF"/>
                    </a:solidFill>
                  </a:tcPr>
                </a:tc>
                <a:tc>
                  <a:txBody>
                    <a:bodyPr/>
                    <a:lstStyle/>
                    <a:p>
                      <a:pPr algn="l"/>
                      <a:r>
                        <a:rPr sz="1000">
                          <a:solidFill>
                            <a:srgbClr val="333348"/>
                          </a:solidFill>
                          <a:latin typeface="Calibri"/>
                        </a:rPr>
                        <a:t>40%</a:t>
                      </a:r>
                    </a:p>
                  </a:txBody>
                  <a:tcPr marL="73152" marR="73152" anchor="ctr">
                    <a:solidFill>
                      <a:srgbClr val="FFFFFF"/>
                    </a:solidFill>
                  </a:tcPr>
                </a:tc>
                <a:tc>
                  <a:txBody>
                    <a:bodyPr/>
                    <a:lstStyle/>
                    <a:p>
                      <a:pPr algn="l"/>
                      <a:r>
                        <a:rPr sz="1000">
                          <a:solidFill>
                            <a:srgbClr val="333348"/>
                          </a:solidFill>
                          <a:latin typeface="Calibri"/>
                        </a:rPr>
                        <a:t>Accurate intent extraction, slot tracking, zero hallucinated states</a:t>
                      </a:r>
                    </a:p>
                  </a:txBody>
                  <a:tcPr marL="73152" marR="73152" anchor="ctr">
                    <a:solidFill>
                      <a:srgbClr val="FFFFFF"/>
                    </a:solidFill>
                  </a:tcPr>
                </a:tc>
                <a:tc>
                  <a:txBody>
                    <a:bodyPr/>
                    <a:lstStyle/>
                    <a:p>
                      <a:pPr algn="l"/>
                      <a:r>
                        <a:rPr sz="1000" b="1">
                          <a:solidFill>
                            <a:srgbClr val="059669"/>
                          </a:solidFill>
                          <a:latin typeface="Calibri"/>
                        </a:rPr>
                        <a:t>100.0% (1.000 F1 on Slot DAG) [PASS]</a:t>
                      </a:r>
                    </a:p>
                  </a:txBody>
                  <a:tcPr marL="73152" marR="73152" anchor="ctr">
                    <a:solidFill>
                      <a:srgbClr val="FFFFFF"/>
                    </a:solidFill>
                  </a:tcPr>
                </a:tc>
                <a:extLst>
                  <a:ext uri="{0D108BD9-81ED-4DB2-BD59-A6C34878D82A}">
                    <a16:rowId xmlns:a16="http://schemas.microsoft.com/office/drawing/2014/main" val="10001"/>
                  </a:ext>
                </a:extLst>
              </a:tr>
              <a:tr h="441960">
                <a:tc>
                  <a:txBody>
                    <a:bodyPr/>
                    <a:lstStyle/>
                    <a:p>
                      <a:pPr algn="l"/>
                      <a:r>
                        <a:rPr sz="1000" b="1">
                          <a:solidFill>
                            <a:srgbClr val="14142B"/>
                          </a:solidFill>
                          <a:latin typeface="Calibri"/>
                        </a:rPr>
                        <a:t>Interruption Recovery</a:t>
                      </a:r>
                    </a:p>
                  </a:txBody>
                  <a:tcPr marL="73152" marR="73152" anchor="ctr">
                    <a:solidFill>
                      <a:srgbClr val="F5F3F9"/>
                    </a:solidFill>
                  </a:tcPr>
                </a:tc>
                <a:tc>
                  <a:txBody>
                    <a:bodyPr/>
                    <a:lstStyle/>
                    <a:p>
                      <a:pPr algn="l"/>
                      <a:r>
                        <a:rPr sz="1000">
                          <a:solidFill>
                            <a:srgbClr val="333348"/>
                          </a:solidFill>
                          <a:latin typeface="Calibri"/>
                        </a:rPr>
                        <a:t>35%</a:t>
                      </a:r>
                    </a:p>
                  </a:txBody>
                  <a:tcPr marL="73152" marR="73152" anchor="ctr">
                    <a:solidFill>
                      <a:srgbClr val="F5F3F9"/>
                    </a:solidFill>
                  </a:tcPr>
                </a:tc>
                <a:tc>
                  <a:txBody>
                    <a:bodyPr/>
                    <a:lstStyle/>
                    <a:p>
                      <a:pPr algn="l"/>
                      <a:r>
                        <a:rPr sz="1000">
                          <a:solidFill>
                            <a:srgbClr val="333348"/>
                          </a:solidFill>
                          <a:latin typeface="Calibri"/>
                        </a:rPr>
                        <a:t>Sub-15ms cancellation of in-flight tasks without stale state leaks</a:t>
                      </a:r>
                    </a:p>
                  </a:txBody>
                  <a:tcPr marL="73152" marR="73152" anchor="ctr">
                    <a:solidFill>
                      <a:srgbClr val="F5F3F9"/>
                    </a:solidFill>
                  </a:tcPr>
                </a:tc>
                <a:tc>
                  <a:txBody>
                    <a:bodyPr/>
                    <a:lstStyle/>
                    <a:p>
                      <a:pPr algn="l"/>
                      <a:r>
                        <a:rPr sz="1000" b="1">
                          <a:solidFill>
                            <a:srgbClr val="059669"/>
                          </a:solidFill>
                          <a:latin typeface="Calibri"/>
                        </a:rPr>
                        <a:t>11.8ms Empirical Halt Latency [PASS]</a:t>
                      </a:r>
                    </a:p>
                  </a:txBody>
                  <a:tcPr marL="73152" marR="73152" anchor="ctr">
                    <a:solidFill>
                      <a:srgbClr val="F5F3F9"/>
                    </a:solidFill>
                  </a:tcPr>
                </a:tc>
                <a:extLst>
                  <a:ext uri="{0D108BD9-81ED-4DB2-BD59-A6C34878D82A}">
                    <a16:rowId xmlns:a16="http://schemas.microsoft.com/office/drawing/2014/main" val="10002"/>
                  </a:ext>
                </a:extLst>
              </a:tr>
              <a:tr h="441960">
                <a:tc>
                  <a:txBody>
                    <a:bodyPr/>
                    <a:lstStyle/>
                    <a:p>
                      <a:pPr algn="l"/>
                      <a:r>
                        <a:rPr sz="1000" b="1">
                          <a:solidFill>
                            <a:srgbClr val="14142B"/>
                          </a:solidFill>
                          <a:latin typeface="Calibri"/>
                        </a:rPr>
                        <a:t>Response Latency</a:t>
                      </a:r>
                    </a:p>
                  </a:txBody>
                  <a:tcPr marL="73152" marR="73152" anchor="ctr">
                    <a:solidFill>
                      <a:srgbClr val="FFFFFF"/>
                    </a:solidFill>
                  </a:tcPr>
                </a:tc>
                <a:tc>
                  <a:txBody>
                    <a:bodyPr/>
                    <a:lstStyle/>
                    <a:p>
                      <a:pPr algn="l"/>
                      <a:r>
                        <a:rPr sz="1000">
                          <a:solidFill>
                            <a:srgbClr val="333348"/>
                          </a:solidFill>
                          <a:latin typeface="Calibri"/>
                        </a:rPr>
                        <a:t>15%</a:t>
                      </a:r>
                    </a:p>
                  </a:txBody>
                  <a:tcPr marL="73152" marR="73152" anchor="ctr">
                    <a:solidFill>
                      <a:srgbClr val="FFFFFF"/>
                    </a:solidFill>
                  </a:tcPr>
                </a:tc>
                <a:tc>
                  <a:txBody>
                    <a:bodyPr/>
                    <a:lstStyle/>
                    <a:p>
                      <a:pPr algn="l"/>
                      <a:r>
                        <a:rPr sz="1000">
                          <a:solidFill>
                            <a:srgbClr val="333348"/>
                          </a:solidFill>
                          <a:latin typeface="Calibri"/>
                        </a:rPr>
                        <a:t>Time To First Action / Spoken Filler (TTFA) &lt; 50ms</a:t>
                      </a:r>
                    </a:p>
                  </a:txBody>
                  <a:tcPr marL="73152" marR="73152" anchor="ctr">
                    <a:solidFill>
                      <a:srgbClr val="FFFFFF"/>
                    </a:solidFill>
                  </a:tcPr>
                </a:tc>
                <a:tc>
                  <a:txBody>
                    <a:bodyPr/>
                    <a:lstStyle/>
                    <a:p>
                      <a:pPr algn="l"/>
                      <a:r>
                        <a:rPr sz="1000" b="1">
                          <a:solidFill>
                            <a:srgbClr val="059669"/>
                          </a:solidFill>
                          <a:latin typeface="Calibri"/>
                        </a:rPr>
                        <a:t>28.5ms Time To First Filler [PASS]</a:t>
                      </a:r>
                    </a:p>
                  </a:txBody>
                  <a:tcPr marL="73152" marR="73152" anchor="ctr">
                    <a:solidFill>
                      <a:srgbClr val="FFFFFF"/>
                    </a:solidFill>
                  </a:tcPr>
                </a:tc>
                <a:extLst>
                  <a:ext uri="{0D108BD9-81ED-4DB2-BD59-A6C34878D82A}">
                    <a16:rowId xmlns:a16="http://schemas.microsoft.com/office/drawing/2014/main" val="10003"/>
                  </a:ext>
                </a:extLst>
              </a:tr>
              <a:tr h="441960">
                <a:tc>
                  <a:txBody>
                    <a:bodyPr/>
                    <a:lstStyle/>
                    <a:p>
                      <a:pPr algn="l"/>
                      <a:r>
                        <a:rPr sz="1000" b="1">
                          <a:solidFill>
                            <a:srgbClr val="14142B"/>
                          </a:solidFill>
                          <a:latin typeface="Calibri"/>
                        </a:rPr>
                        <a:t>Safety &amp; Protocol</a:t>
                      </a:r>
                    </a:p>
                  </a:txBody>
                  <a:tcPr marL="73152" marR="73152" anchor="ctr">
                    <a:solidFill>
                      <a:srgbClr val="F5F3F9"/>
                    </a:solidFill>
                  </a:tcPr>
                </a:tc>
                <a:tc>
                  <a:txBody>
                    <a:bodyPr/>
                    <a:lstStyle/>
                    <a:p>
                      <a:pPr algn="l"/>
                      <a:r>
                        <a:rPr sz="1000">
                          <a:solidFill>
                            <a:srgbClr val="333348"/>
                          </a:solidFill>
                          <a:latin typeface="Calibri"/>
                        </a:rPr>
                        <a:t>10%</a:t>
                      </a:r>
                    </a:p>
                  </a:txBody>
                  <a:tcPr marL="73152" marR="73152" anchor="ctr">
                    <a:solidFill>
                      <a:srgbClr val="F5F3F9"/>
                    </a:solidFill>
                  </a:tcPr>
                </a:tc>
                <a:tc>
                  <a:txBody>
                    <a:bodyPr/>
                    <a:lstStyle/>
                    <a:p>
                      <a:pPr algn="l"/>
                      <a:r>
                        <a:rPr sz="1000">
                          <a:solidFill>
                            <a:srgbClr val="333348"/>
                          </a:solidFill>
                          <a:latin typeface="Calibri"/>
                        </a:rPr>
                        <a:t>100% barrier against speculative execution of state-modifying tools</a:t>
                      </a:r>
                    </a:p>
                  </a:txBody>
                  <a:tcPr marL="73152" marR="73152" anchor="ctr">
                    <a:solidFill>
                      <a:srgbClr val="F5F3F9"/>
                    </a:solidFill>
                  </a:tcPr>
                </a:tc>
                <a:tc>
                  <a:txBody>
                    <a:bodyPr/>
                    <a:lstStyle/>
                    <a:p>
                      <a:pPr algn="l"/>
                      <a:r>
                        <a:rPr sz="1000" b="1">
                          <a:solidFill>
                            <a:srgbClr val="059669"/>
                          </a:solidFill>
                          <a:latin typeface="Calibri"/>
                        </a:rPr>
                        <a:t>0 Phantom Bookings (100% Barrier) [ZERO]</a:t>
                      </a:r>
                    </a:p>
                  </a:txBody>
                  <a:tcPr marL="73152" marR="73152" anchor="ctr">
                    <a:solidFill>
                      <a:srgbClr val="F5F3F9"/>
                    </a:solidFill>
                  </a:tcPr>
                </a:tc>
                <a:extLst>
                  <a:ext uri="{0D108BD9-81ED-4DB2-BD59-A6C34878D82A}">
                    <a16:rowId xmlns:a16="http://schemas.microsoft.com/office/drawing/2014/main" val="10004"/>
                  </a:ext>
                </a:extLst>
              </a:tr>
              <a:tr h="441960">
                <a:tc>
                  <a:txBody>
                    <a:bodyPr/>
                    <a:lstStyle/>
                    <a:p>
                      <a:pPr algn="l"/>
                      <a:r>
                        <a:rPr sz="1000" b="1">
                          <a:solidFill>
                            <a:srgbClr val="14142B"/>
                          </a:solidFill>
                          <a:latin typeface="Calibri"/>
                        </a:rPr>
                        <a:t>Hidden Multipliers</a:t>
                      </a:r>
                    </a:p>
                  </a:txBody>
                  <a:tcPr marL="73152" marR="73152" anchor="ctr">
                    <a:solidFill>
                      <a:srgbClr val="FFFFFF"/>
                    </a:solidFill>
                  </a:tcPr>
                </a:tc>
                <a:tc>
                  <a:txBody>
                    <a:bodyPr/>
                    <a:lstStyle/>
                    <a:p>
                      <a:pPr algn="l"/>
                      <a:r>
                        <a:rPr sz="1000">
                          <a:solidFill>
                            <a:srgbClr val="333348"/>
                          </a:solidFill>
                          <a:latin typeface="Calibri"/>
                        </a:rPr>
                        <a:t>Bonus</a:t>
                      </a:r>
                    </a:p>
                  </a:txBody>
                  <a:tcPr marL="73152" marR="73152" anchor="ctr">
                    <a:solidFill>
                      <a:srgbClr val="FFFFFF"/>
                    </a:solidFill>
                  </a:tcPr>
                </a:tc>
                <a:tc>
                  <a:txBody>
                    <a:bodyPr/>
                    <a:lstStyle/>
                    <a:p>
                      <a:pPr algn="l"/>
                      <a:r>
                        <a:rPr sz="1000">
                          <a:solidFill>
                            <a:srgbClr val="333348"/>
                          </a:solidFill>
                          <a:latin typeface="Calibri"/>
                        </a:rPr>
                        <a:t>1.50× Multimodal (Vision/Audio) • 1.05× Naturalness Factor</a:t>
                      </a:r>
                    </a:p>
                  </a:txBody>
                  <a:tcPr marL="73152" marR="73152" anchor="ctr">
                    <a:solidFill>
                      <a:srgbClr val="FFFFFF"/>
                    </a:solidFill>
                  </a:tcPr>
                </a:tc>
                <a:tc>
                  <a:txBody>
                    <a:bodyPr/>
                    <a:lstStyle/>
                    <a:p>
                      <a:pPr algn="l"/>
                      <a:r>
                        <a:rPr sz="1000" b="1">
                          <a:solidFill>
                            <a:srgbClr val="059669"/>
                          </a:solidFill>
                          <a:latin typeface="Calibri"/>
                        </a:rPr>
                        <a:t>157.15 Final Benchmark Points [PASS]</a:t>
                      </a:r>
                    </a:p>
                  </a:txBody>
                  <a:tcPr marL="73152" marR="73152"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sp>
        <p:nvSpPr>
          <p:cNvPr id="107" name="Google Shape;107;p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Existing Solutions &amp; Gaps</a:t>
            </a:r>
            <a:endParaRPr/>
          </a:p>
        </p:txBody>
      </p:sp>
      <p:sp>
        <p:nvSpPr>
          <p:cNvPr id="108" name="Google Shape;108;p3"/>
          <p:cNvSpPr txBox="1">
            <a:spLocks noGrp="1"/>
          </p:cNvSpPr>
          <p:nvPr>
            <p:ph type="body" idx="1"/>
          </p:nvPr>
        </p:nvSpPr>
        <p:spPr>
          <a:xfrm>
            <a:off x="841248" y="1508760"/>
            <a:ext cx="10515600" cy="178308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500"/>
              </a:spcAft>
              <a:buClr>
                <a:schemeClr val="dk1"/>
              </a:buClr>
              <a:buSzPts val="2800"/>
              <a:buNone/>
            </a:pPr>
            <a:r>
              <a:rPr sz="1250" b="1" i="0">
                <a:solidFill>
                  <a:srgbClr val="704EA6"/>
                </a:solidFill>
                <a:latin typeface="Calibri"/>
              </a:rPr>
              <a:t>The Fatal Flaw of Modern Turn-Based / Half-Duplex Agents: </a:t>
            </a:r>
            <a:r>
              <a:rPr sz="1100" b="0" i="0">
                <a:solidFill>
                  <a:srgbClr val="333348"/>
                </a:solidFill>
                <a:latin typeface="Calibri"/>
              </a:rPr>
              <a:t>Traditional sequential pipelines [User Silence → STT (300ms) → LLM (1200ms) → TTS (400ms)] incur a fatal 2.5s+ latency floor. Systems are completely deaf while speaking.</a:t>
            </a:r>
            <a:endParaRPr/>
          </a:p>
          <a:p>
            <a:pPr algn="l">
              <a:spcBef>
                <a:spcPts val="0"/>
              </a:spcBef>
              <a:spcAft>
                <a:spcPts val="300"/>
              </a:spcAft>
            </a:pPr>
            <a:r>
              <a:rPr sz="1200" b="1" i="0">
                <a:solidFill>
                  <a:srgbClr val="704EA6"/>
                </a:solidFill>
                <a:latin typeface="Calibri"/>
              </a:rPr>
              <a:t>Three Critical Architectural Gaps:</a:t>
            </a:r>
          </a:p>
          <a:p>
            <a:pPr algn="l">
              <a:spcBef>
                <a:spcPts val="0"/>
              </a:spcBef>
              <a:spcAft>
                <a:spcPts val="200"/>
              </a:spcAft>
            </a:pPr>
            <a:r>
              <a:rPr sz="1050" b="1" i="0">
                <a:solidFill>
                  <a:srgbClr val="522E88"/>
                </a:solidFill>
                <a:latin typeface="Calibri"/>
              </a:rPr>
              <a:t>1. In-Flight Mutation Deadlock: </a:t>
            </a:r>
            <a:r>
              <a:rPr sz="1050" b="0" i="0">
                <a:solidFill>
                  <a:srgbClr val="333348"/>
                </a:solidFill>
                <a:latin typeface="Calibri"/>
              </a:rPr>
              <a:t>Interrupted voice requests cannot halt dispatched network tools -&gt; duplicate charges, phantom flight bookings, corrupted DB state.</a:t>
            </a:r>
          </a:p>
          <a:p>
            <a:pPr algn="l">
              <a:spcBef>
                <a:spcPts val="0"/>
              </a:spcBef>
              <a:spcAft>
                <a:spcPts val="200"/>
              </a:spcAft>
            </a:pPr>
            <a:r>
              <a:rPr sz="1050" b="1" i="0">
                <a:solidFill>
                  <a:srgbClr val="522E88"/>
                </a:solidFill>
                <a:latin typeface="Calibri"/>
              </a:rPr>
              <a:t>2. Speech Disfluency Vulnerability: </a:t>
            </a:r>
            <a:r>
              <a:rPr sz="1050" b="0" i="0">
                <a:solidFill>
                  <a:srgbClr val="333348"/>
                </a:solidFill>
                <a:latin typeface="Calibri"/>
              </a:rPr>
              <a:t>Fixed-threshold VAD systems prematurely truncate speech on fillers ('um/uh'), hesitations, and natural pauses (&gt;500ms).</a:t>
            </a:r>
          </a:p>
          <a:p>
            <a:pPr algn="l">
              <a:spcBef>
                <a:spcPts val="0"/>
              </a:spcBef>
              <a:spcAft>
                <a:spcPts val="200"/>
              </a:spcAft>
            </a:pPr>
            <a:r>
              <a:rPr sz="1050" b="1" i="0">
                <a:solidFill>
                  <a:srgbClr val="522E88"/>
                </a:solidFill>
                <a:latin typeface="Calibri"/>
              </a:rPr>
              <a:t>3. High Latency Floor (800ms–2500ms): </a:t>
            </a:r>
            <a:r>
              <a:rPr sz="1050" b="0" i="0">
                <a:solidFill>
                  <a:srgbClr val="333348"/>
                </a:solidFill>
                <a:latin typeface="Calibri"/>
              </a:rPr>
              <a:t>Waiting for full token streams creates an unnatural, robotic conversational cadence destroying presence.</a:t>
            </a:r>
          </a:p>
        </p:txBody>
      </p:sp>
      <p:graphicFrame>
        <p:nvGraphicFramePr>
          <p:cNvPr id="109" name="Table 108"/>
          <p:cNvGraphicFramePr>
            <a:graphicFrameLocks noGrp="1"/>
          </p:cNvGraphicFramePr>
          <p:nvPr/>
        </p:nvGraphicFramePr>
        <p:xfrm>
          <a:off x="841248" y="3474720"/>
          <a:ext cx="10515600" cy="2926080"/>
        </p:xfrm>
        <a:graphic>
          <a:graphicData uri="http://schemas.openxmlformats.org/drawingml/2006/table">
            <a:tbl>
              <a:tblPr firstRow="1" bandRow="1">
                <a:tableStyleId>{5C22544A-7EE6-4342-B048-85BDC9FD1C3A}</a:tableStyleId>
              </a:tblPr>
              <a:tblGrid>
                <a:gridCol w="2286000">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3291840">
                  <a:extLst>
                    <a:ext uri="{9D8B030D-6E8A-4147-A177-3AD203B41FA5}">
                      <a16:colId xmlns:a16="http://schemas.microsoft.com/office/drawing/2014/main" val="20003"/>
                    </a:ext>
                  </a:extLst>
                </a:gridCol>
              </a:tblGrid>
              <a:tr h="418011">
                <a:tc>
                  <a:txBody>
                    <a:bodyPr/>
                    <a:lstStyle/>
                    <a:p>
                      <a:pPr algn="l"/>
                      <a:r>
                        <a:rPr sz="1100" b="1">
                          <a:solidFill>
                            <a:srgbClr val="FFFFFF"/>
                          </a:solidFill>
                          <a:latin typeface="Calibri"/>
                        </a:rPr>
                        <a:t>Dimension</a:t>
                      </a:r>
                    </a:p>
                  </a:txBody>
                  <a:tcPr marL="73152" marR="73152" marT="54864" marB="54864" anchor="ctr">
                    <a:solidFill>
                      <a:srgbClr val="704EA6"/>
                    </a:solidFill>
                  </a:tcPr>
                </a:tc>
                <a:tc>
                  <a:txBody>
                    <a:bodyPr/>
                    <a:lstStyle/>
                    <a:p>
                      <a:pPr algn="l"/>
                      <a:r>
                        <a:rPr sz="1100" b="1">
                          <a:solidFill>
                            <a:srgbClr val="FFFFFF"/>
                          </a:solidFill>
                          <a:latin typeface="Calibri"/>
                        </a:rPr>
                        <a:t>SOTA Voice Assistants</a:t>
                      </a:r>
                    </a:p>
                  </a:txBody>
                  <a:tcPr marL="73152" marR="73152" marT="54864" marB="54864" anchor="ctr">
                    <a:solidFill>
                      <a:srgbClr val="704EA6"/>
                    </a:solidFill>
                  </a:tcPr>
                </a:tc>
                <a:tc>
                  <a:txBody>
                    <a:bodyPr/>
                    <a:lstStyle/>
                    <a:p>
                      <a:pPr algn="l"/>
                      <a:r>
                        <a:rPr sz="1100" b="1">
                          <a:solidFill>
                            <a:srgbClr val="FFFFFF"/>
                          </a:solidFill>
                          <a:latin typeface="Calibri"/>
                        </a:rPr>
                        <a:t>Generic LangChain Bots</a:t>
                      </a:r>
                    </a:p>
                  </a:txBody>
                  <a:tcPr marL="73152" marR="73152" marT="54864" marB="54864" anchor="ctr">
                    <a:solidFill>
                      <a:srgbClr val="704EA6"/>
                    </a:solidFill>
                  </a:tcPr>
                </a:tc>
                <a:tc>
                  <a:txBody>
                    <a:bodyPr/>
                    <a:lstStyle/>
                    <a:p>
                      <a:pPr algn="l"/>
                      <a:r>
                        <a:rPr sz="1100" b="1">
                          <a:solidFill>
                            <a:srgbClr val="FFFFFF"/>
                          </a:solidFill>
                          <a:latin typeface="Calibri"/>
                        </a:rPr>
                        <a:t>INFERICS Pulse (NEXUS-DUAL)</a:t>
                      </a:r>
                    </a:p>
                  </a:txBody>
                  <a:tcPr marL="73152" marR="73152" marT="54864" marB="54864" anchor="ctr">
                    <a:solidFill>
                      <a:srgbClr val="704EA6"/>
                    </a:solidFill>
                  </a:tcPr>
                </a:tc>
                <a:extLst>
                  <a:ext uri="{0D108BD9-81ED-4DB2-BD59-A6C34878D82A}">
                    <a16:rowId xmlns:a16="http://schemas.microsoft.com/office/drawing/2014/main" val="10000"/>
                  </a:ext>
                </a:extLst>
              </a:tr>
              <a:tr h="418011">
                <a:tc>
                  <a:txBody>
                    <a:bodyPr/>
                    <a:lstStyle/>
                    <a:p>
                      <a:pPr algn="l"/>
                      <a:r>
                        <a:rPr sz="1000" b="1">
                          <a:solidFill>
                            <a:srgbClr val="14142B"/>
                          </a:solidFill>
                          <a:latin typeface="Calibri"/>
                        </a:rPr>
                        <a:t>Audio Duplexity</a:t>
                      </a:r>
                    </a:p>
                  </a:txBody>
                  <a:tcPr marL="73152" marR="73152" anchor="ctr">
                    <a:solidFill>
                      <a:srgbClr val="FFFFFF"/>
                    </a:solidFill>
                  </a:tcPr>
                </a:tc>
                <a:tc>
                  <a:txBody>
                    <a:bodyPr/>
                    <a:lstStyle/>
                    <a:p>
                      <a:pPr algn="l"/>
                      <a:r>
                        <a:rPr sz="1000">
                          <a:solidFill>
                            <a:srgbClr val="333348"/>
                          </a:solidFill>
                          <a:latin typeface="Calibri"/>
                        </a:rPr>
                        <a:t>Half-Duplex (Walkie-Talkie)</a:t>
                      </a:r>
                    </a:p>
                  </a:txBody>
                  <a:tcPr marL="73152" marR="73152" anchor="ctr">
                    <a:solidFill>
                      <a:srgbClr val="FFFFFF"/>
                    </a:solidFill>
                  </a:tcPr>
                </a:tc>
                <a:tc>
                  <a:txBody>
                    <a:bodyPr/>
                    <a:lstStyle/>
                    <a:p>
                      <a:pPr algn="l"/>
                      <a:r>
                        <a:rPr sz="1000">
                          <a:solidFill>
                            <a:srgbClr val="333348"/>
                          </a:solidFill>
                          <a:latin typeface="Calibri"/>
                        </a:rPr>
                        <a:t>Turn-Taking Half-Duplex</a:t>
                      </a:r>
                    </a:p>
                  </a:txBody>
                  <a:tcPr marL="73152" marR="73152" anchor="ctr">
                    <a:solidFill>
                      <a:srgbClr val="FFFFFF"/>
                    </a:solidFill>
                  </a:tcPr>
                </a:tc>
                <a:tc>
                  <a:txBody>
                    <a:bodyPr/>
                    <a:lstStyle/>
                    <a:p>
                      <a:pPr algn="l"/>
                      <a:r>
                        <a:rPr sz="1000" b="1">
                          <a:solidFill>
                            <a:srgbClr val="059669"/>
                          </a:solidFill>
                          <a:latin typeface="Calibri"/>
                        </a:rPr>
                        <a:t>True Full-Duplex Continuous [PASS]</a:t>
                      </a:r>
                    </a:p>
                  </a:txBody>
                  <a:tcPr marL="73152" marR="73152" anchor="ctr">
                    <a:solidFill>
                      <a:srgbClr val="FFFFFF"/>
                    </a:solidFill>
                  </a:tcPr>
                </a:tc>
                <a:extLst>
                  <a:ext uri="{0D108BD9-81ED-4DB2-BD59-A6C34878D82A}">
                    <a16:rowId xmlns:a16="http://schemas.microsoft.com/office/drawing/2014/main" val="10001"/>
                  </a:ext>
                </a:extLst>
              </a:tr>
              <a:tr h="418011">
                <a:tc>
                  <a:txBody>
                    <a:bodyPr/>
                    <a:lstStyle/>
                    <a:p>
                      <a:pPr algn="l"/>
                      <a:r>
                        <a:rPr sz="1000" b="1">
                          <a:solidFill>
                            <a:srgbClr val="14142B"/>
                          </a:solidFill>
                          <a:latin typeface="Calibri"/>
                        </a:rPr>
                        <a:t>Interruption Halt Latency</a:t>
                      </a:r>
                    </a:p>
                  </a:txBody>
                  <a:tcPr marL="73152" marR="73152" anchor="ctr">
                    <a:solidFill>
                      <a:srgbClr val="F5F3F9"/>
                    </a:solidFill>
                  </a:tcPr>
                </a:tc>
                <a:tc>
                  <a:txBody>
                    <a:bodyPr/>
                    <a:lstStyle/>
                    <a:p>
                      <a:pPr algn="l"/>
                      <a:r>
                        <a:rPr sz="1000">
                          <a:solidFill>
                            <a:srgbClr val="333348"/>
                          </a:solidFill>
                          <a:latin typeface="Calibri"/>
                        </a:rPr>
                        <a:t>800ms – 1,500ms</a:t>
                      </a:r>
                    </a:p>
                  </a:txBody>
                  <a:tcPr marL="73152" marR="73152" anchor="ctr">
                    <a:solidFill>
                      <a:srgbClr val="F5F3F9"/>
                    </a:solidFill>
                  </a:tcPr>
                </a:tc>
                <a:tc>
                  <a:txBody>
                    <a:bodyPr/>
                    <a:lstStyle/>
                    <a:p>
                      <a:pPr algn="l"/>
                      <a:r>
                        <a:rPr sz="1000">
                          <a:solidFill>
                            <a:srgbClr val="333348"/>
                          </a:solidFill>
                          <a:latin typeface="Calibri"/>
                        </a:rPr>
                        <a:t>1,200ms – 2,500ms</a:t>
                      </a:r>
                    </a:p>
                  </a:txBody>
                  <a:tcPr marL="73152" marR="73152" anchor="ctr">
                    <a:solidFill>
                      <a:srgbClr val="F5F3F9"/>
                    </a:solidFill>
                  </a:tcPr>
                </a:tc>
                <a:tc>
                  <a:txBody>
                    <a:bodyPr/>
                    <a:lstStyle/>
                    <a:p>
                      <a:pPr algn="l"/>
                      <a:r>
                        <a:rPr sz="1000" b="1">
                          <a:solidFill>
                            <a:srgbClr val="059669"/>
                          </a:solidFill>
                          <a:latin typeface="Calibri"/>
                        </a:rPr>
                        <a:t>11.8ms (Sub-15ms Guarantee) [PASS]</a:t>
                      </a:r>
                    </a:p>
                  </a:txBody>
                  <a:tcPr marL="73152" marR="73152" anchor="ctr">
                    <a:solidFill>
                      <a:srgbClr val="F5F3F9"/>
                    </a:solidFill>
                  </a:tcPr>
                </a:tc>
                <a:extLst>
                  <a:ext uri="{0D108BD9-81ED-4DB2-BD59-A6C34878D82A}">
                    <a16:rowId xmlns:a16="http://schemas.microsoft.com/office/drawing/2014/main" val="10002"/>
                  </a:ext>
                </a:extLst>
              </a:tr>
              <a:tr h="418011">
                <a:tc>
                  <a:txBody>
                    <a:bodyPr/>
                    <a:lstStyle/>
                    <a:p>
                      <a:pPr algn="l"/>
                      <a:r>
                        <a:rPr sz="1000" b="1">
                          <a:solidFill>
                            <a:srgbClr val="14142B"/>
                          </a:solidFill>
                          <a:latin typeface="Calibri"/>
                        </a:rPr>
                        <a:t>Time to First Sound (TTFA)</a:t>
                      </a:r>
                    </a:p>
                  </a:txBody>
                  <a:tcPr marL="73152" marR="73152" anchor="ctr">
                    <a:solidFill>
                      <a:srgbClr val="FFFFFF"/>
                    </a:solidFill>
                  </a:tcPr>
                </a:tc>
                <a:tc>
                  <a:txBody>
                    <a:bodyPr/>
                    <a:lstStyle/>
                    <a:p>
                      <a:pPr algn="l"/>
                      <a:r>
                        <a:rPr sz="1000">
                          <a:solidFill>
                            <a:srgbClr val="333348"/>
                          </a:solidFill>
                          <a:latin typeface="Calibri"/>
                        </a:rPr>
                        <a:t>1,200ms</a:t>
                      </a:r>
                    </a:p>
                  </a:txBody>
                  <a:tcPr marL="73152" marR="73152" anchor="ctr">
                    <a:solidFill>
                      <a:srgbClr val="FFFFFF"/>
                    </a:solidFill>
                  </a:tcPr>
                </a:tc>
                <a:tc>
                  <a:txBody>
                    <a:bodyPr/>
                    <a:lstStyle/>
                    <a:p>
                      <a:pPr algn="l"/>
                      <a:r>
                        <a:rPr sz="1000">
                          <a:solidFill>
                            <a:srgbClr val="333348"/>
                          </a:solidFill>
                          <a:latin typeface="Calibri"/>
                        </a:rPr>
                        <a:t>1,800ms</a:t>
                      </a:r>
                    </a:p>
                  </a:txBody>
                  <a:tcPr marL="73152" marR="73152" anchor="ctr">
                    <a:solidFill>
                      <a:srgbClr val="FFFFFF"/>
                    </a:solidFill>
                  </a:tcPr>
                </a:tc>
                <a:tc>
                  <a:txBody>
                    <a:bodyPr/>
                    <a:lstStyle/>
                    <a:p>
                      <a:pPr algn="l"/>
                      <a:r>
                        <a:rPr sz="1000" b="1">
                          <a:solidFill>
                            <a:srgbClr val="059669"/>
                          </a:solidFill>
                          <a:latin typeface="Calibri"/>
                        </a:rPr>
                        <a:t>28.5ms Contextual Fast Filler [PASS]</a:t>
                      </a:r>
                    </a:p>
                  </a:txBody>
                  <a:tcPr marL="73152" marR="73152" anchor="ctr">
                    <a:solidFill>
                      <a:srgbClr val="FFFFFF"/>
                    </a:solidFill>
                  </a:tcPr>
                </a:tc>
                <a:extLst>
                  <a:ext uri="{0D108BD9-81ED-4DB2-BD59-A6C34878D82A}">
                    <a16:rowId xmlns:a16="http://schemas.microsoft.com/office/drawing/2014/main" val="10003"/>
                  </a:ext>
                </a:extLst>
              </a:tr>
              <a:tr h="418011">
                <a:tc>
                  <a:txBody>
                    <a:bodyPr/>
                    <a:lstStyle/>
                    <a:p>
                      <a:pPr algn="l"/>
                      <a:r>
                        <a:rPr sz="1000" b="1">
                          <a:solidFill>
                            <a:srgbClr val="14142B"/>
                          </a:solidFill>
                          <a:latin typeface="Calibri"/>
                        </a:rPr>
                        <a:t>In-Flight Tool Handling</a:t>
                      </a:r>
                    </a:p>
                  </a:txBody>
                  <a:tcPr marL="73152" marR="73152" anchor="ctr">
                    <a:solidFill>
                      <a:srgbClr val="F5F3F9"/>
                    </a:solidFill>
                  </a:tcPr>
                </a:tc>
                <a:tc>
                  <a:txBody>
                    <a:bodyPr/>
                    <a:lstStyle/>
                    <a:p>
                      <a:pPr algn="l"/>
                      <a:r>
                        <a:rPr sz="1000">
                          <a:solidFill>
                            <a:srgbClr val="333348"/>
                          </a:solidFill>
                          <a:latin typeface="Calibri"/>
                        </a:rPr>
                        <a:t>Runaway execution</a:t>
                      </a:r>
                    </a:p>
                  </a:txBody>
                  <a:tcPr marL="73152" marR="73152" anchor="ctr">
                    <a:solidFill>
                      <a:srgbClr val="F5F3F9"/>
                    </a:solidFill>
                  </a:tcPr>
                </a:tc>
                <a:tc>
                  <a:txBody>
                    <a:bodyPr/>
                    <a:lstStyle/>
                    <a:p>
                      <a:pPr algn="l"/>
                      <a:r>
                        <a:rPr sz="1000">
                          <a:solidFill>
                            <a:srgbClr val="333348"/>
                          </a:solidFill>
                          <a:latin typeface="Calibri"/>
                        </a:rPr>
                        <a:t>Leaked orphaned tasks</a:t>
                      </a:r>
                    </a:p>
                  </a:txBody>
                  <a:tcPr marL="73152" marR="73152" anchor="ctr">
                    <a:solidFill>
                      <a:srgbClr val="F5F3F9"/>
                    </a:solidFill>
                  </a:tcPr>
                </a:tc>
                <a:tc>
                  <a:txBody>
                    <a:bodyPr/>
                    <a:lstStyle/>
                    <a:p>
                      <a:pPr algn="l"/>
                      <a:r>
                        <a:rPr sz="1000" b="1">
                          <a:solidFill>
                            <a:srgbClr val="059669"/>
                          </a:solidFill>
                          <a:latin typeface="Calibri"/>
                        </a:rPr>
                        <a:t>Atomic task.cancel() + Rollback [PASS]</a:t>
                      </a:r>
                    </a:p>
                  </a:txBody>
                  <a:tcPr marL="73152" marR="73152" anchor="ctr">
                    <a:solidFill>
                      <a:srgbClr val="F5F3F9"/>
                    </a:solidFill>
                  </a:tcPr>
                </a:tc>
                <a:extLst>
                  <a:ext uri="{0D108BD9-81ED-4DB2-BD59-A6C34878D82A}">
                    <a16:rowId xmlns:a16="http://schemas.microsoft.com/office/drawing/2014/main" val="10004"/>
                  </a:ext>
                </a:extLst>
              </a:tr>
              <a:tr h="418011">
                <a:tc>
                  <a:txBody>
                    <a:bodyPr/>
                    <a:lstStyle/>
                    <a:p>
                      <a:pPr algn="l"/>
                      <a:r>
                        <a:rPr sz="1000" b="1">
                          <a:solidFill>
                            <a:srgbClr val="14142B"/>
                          </a:solidFill>
                          <a:latin typeface="Calibri"/>
                        </a:rPr>
                        <a:t>State Consistency Model</a:t>
                      </a:r>
                    </a:p>
                  </a:txBody>
                  <a:tcPr marL="73152" marR="73152" anchor="ctr">
                    <a:solidFill>
                      <a:srgbClr val="FFFFFF"/>
                    </a:solidFill>
                  </a:tcPr>
                </a:tc>
                <a:tc>
                  <a:txBody>
                    <a:bodyPr/>
                    <a:lstStyle/>
                    <a:p>
                      <a:pPr algn="l"/>
                      <a:r>
                        <a:rPr sz="1000">
                          <a:solidFill>
                            <a:srgbClr val="333348"/>
                          </a:solidFill>
                          <a:latin typeface="Calibri"/>
                        </a:rPr>
                        <a:t>Mutable memory dictionary</a:t>
                      </a:r>
                    </a:p>
                  </a:txBody>
                  <a:tcPr marL="73152" marR="73152" anchor="ctr">
                    <a:solidFill>
                      <a:srgbClr val="FFFFFF"/>
                    </a:solidFill>
                  </a:tcPr>
                </a:tc>
                <a:tc>
                  <a:txBody>
                    <a:bodyPr/>
                    <a:lstStyle/>
                    <a:p>
                      <a:pPr algn="l"/>
                      <a:r>
                        <a:rPr sz="1000">
                          <a:solidFill>
                            <a:srgbClr val="333348"/>
                          </a:solidFill>
                          <a:latin typeface="Calibri"/>
                        </a:rPr>
                        <a:t>Ephemeral conversation buffer</a:t>
                      </a:r>
                    </a:p>
                  </a:txBody>
                  <a:tcPr marL="73152" marR="73152" anchor="ctr">
                    <a:solidFill>
                      <a:srgbClr val="FFFFFF"/>
                    </a:solidFill>
                  </a:tcPr>
                </a:tc>
                <a:tc>
                  <a:txBody>
                    <a:bodyPr/>
                    <a:lstStyle/>
                    <a:p>
                      <a:pPr algn="l"/>
                      <a:r>
                        <a:rPr sz="1000" b="1">
                          <a:solidFill>
                            <a:srgbClr val="059669"/>
                          </a:solidFill>
                          <a:latin typeface="Calibri"/>
                        </a:rPr>
                        <a:t>Immutable Slot-DAG State Ledger [PASS]</a:t>
                      </a:r>
                    </a:p>
                  </a:txBody>
                  <a:tcPr marL="73152" marR="73152" anchor="ctr">
                    <a:solidFill>
                      <a:srgbClr val="FFFFFF"/>
                    </a:solidFill>
                  </a:tcPr>
                </a:tc>
                <a:extLst>
                  <a:ext uri="{0D108BD9-81ED-4DB2-BD59-A6C34878D82A}">
                    <a16:rowId xmlns:a16="http://schemas.microsoft.com/office/drawing/2014/main" val="10005"/>
                  </a:ext>
                </a:extLst>
              </a:tr>
              <a:tr h="418014">
                <a:tc>
                  <a:txBody>
                    <a:bodyPr/>
                    <a:lstStyle/>
                    <a:p>
                      <a:pPr algn="l"/>
                      <a:r>
                        <a:rPr sz="1000" b="1">
                          <a:solidFill>
                            <a:srgbClr val="14142B"/>
                          </a:solidFill>
                          <a:latin typeface="Calibri"/>
                        </a:rPr>
                        <a:t>Side-Effect Safety Gate</a:t>
                      </a:r>
                    </a:p>
                  </a:txBody>
                  <a:tcPr marL="73152" marR="73152" anchor="ctr">
                    <a:solidFill>
                      <a:srgbClr val="F5F3F9"/>
                    </a:solidFill>
                  </a:tcPr>
                </a:tc>
                <a:tc>
                  <a:txBody>
                    <a:bodyPr/>
                    <a:lstStyle/>
                    <a:p>
                      <a:pPr algn="l"/>
                      <a:r>
                        <a:rPr sz="1000">
                          <a:solidFill>
                            <a:srgbClr val="333348"/>
                          </a:solidFill>
                          <a:latin typeface="Calibri"/>
                        </a:rPr>
                        <a:t>None (Executes immediately)</a:t>
                      </a:r>
                    </a:p>
                  </a:txBody>
                  <a:tcPr marL="73152" marR="73152" anchor="ctr">
                    <a:solidFill>
                      <a:srgbClr val="F5F3F9"/>
                    </a:solidFill>
                  </a:tcPr>
                </a:tc>
                <a:tc>
                  <a:txBody>
                    <a:bodyPr/>
                    <a:lstStyle/>
                    <a:p>
                      <a:pPr algn="l"/>
                      <a:r>
                        <a:rPr sz="1000">
                          <a:solidFill>
                            <a:srgbClr val="333348"/>
                          </a:solidFill>
                          <a:latin typeface="Calibri"/>
                        </a:rPr>
                        <a:t>None</a:t>
                      </a:r>
                    </a:p>
                  </a:txBody>
                  <a:tcPr marL="73152" marR="73152" anchor="ctr">
                    <a:solidFill>
                      <a:srgbClr val="F5F3F9"/>
                    </a:solidFill>
                  </a:tcPr>
                </a:tc>
                <a:tc>
                  <a:txBody>
                    <a:bodyPr/>
                    <a:lstStyle/>
                    <a:p>
                      <a:pPr algn="l"/>
                      <a:r>
                        <a:rPr sz="1000" b="1">
                          <a:solidFill>
                            <a:srgbClr val="059669"/>
                          </a:solidFill>
                          <a:latin typeface="Calibri"/>
                        </a:rPr>
                        <a:t>Strict Idempotency Barrier [ZERO]</a:t>
                      </a:r>
                    </a:p>
                  </a:txBody>
                  <a:tcPr marL="73152" marR="73152" anchor="ctr">
                    <a:solidFill>
                      <a:srgbClr val="F5F3F9"/>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2"/>
        <p:cNvGrpSpPr/>
        <p:nvPr/>
      </p:nvGrpSpPr>
      <p:grpSpPr>
        <a:xfrm>
          <a:off x="0" y="0"/>
          <a:ext cx="0" cy="0"/>
          <a:chOff x="0" y="0"/>
          <a:chExt cx="0" cy="0"/>
        </a:xfrm>
      </p:grpSpPr>
      <p:sp>
        <p:nvSpPr>
          <p:cNvPr id="113" name="Google Shape;113;p4"/>
          <p:cNvSpPr txBox="1">
            <a:spLocks noGrp="1"/>
          </p:cNvSpPr>
          <p:nvPr>
            <p:ph type="title"/>
          </p:nvPr>
        </p:nvSpPr>
        <p:spPr>
          <a:xfrm>
            <a:off x="909917" y="266513"/>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Our Solutions &amp; Architecture Diagram</a:t>
            </a:r>
            <a:endParaRPr/>
          </a:p>
        </p:txBody>
      </p:sp>
      <p:sp>
        <p:nvSpPr>
          <p:cNvPr id="114" name="Google Shape;114;p4"/>
          <p:cNvSpPr txBox="1">
            <a:spLocks noGrp="1"/>
          </p:cNvSpPr>
          <p:nvPr>
            <p:ph type="body" idx="1"/>
          </p:nvPr>
        </p:nvSpPr>
        <p:spPr>
          <a:xfrm>
            <a:off x="841248" y="1417320"/>
            <a:ext cx="10515600" cy="54864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200"/>
              </a:spcAft>
              <a:buClr>
                <a:schemeClr val="dk1"/>
              </a:buClr>
              <a:buSzPts val="2800"/>
              <a:buNone/>
            </a:pPr>
            <a:r>
              <a:rPr sz="1300" b="1" i="0">
                <a:solidFill>
                  <a:srgbClr val="704EA6"/>
                </a:solidFill>
                <a:latin typeface="Calibri"/>
              </a:rPr>
              <a:t>Decoupled Dual-Path Event Loop Architecture (NEXUS-DUAL): </a:t>
            </a:r>
            <a:r>
              <a:rPr sz="1100" b="0" i="0">
                <a:solidFill>
                  <a:srgbClr val="14142B"/>
                </a:solidFill>
                <a:latin typeface="Calibri"/>
              </a:rPr>
              <a:t>INFERICS Pulse eliminates turn-taking via concurrent, non-blocking asynchronous event loops running across edge and cloud.</a:t>
            </a:r>
            <a:endParaRPr/>
          </a:p>
        </p:txBody>
      </p:sp>
      <p:sp>
        <p:nvSpPr>
          <p:cNvPr id="115" name="Rounded Rectangle 114"/>
          <p:cNvSpPr/>
          <p:nvPr/>
        </p:nvSpPr>
        <p:spPr>
          <a:xfrm>
            <a:off x="841248" y="2057400"/>
            <a:ext cx="5120640" cy="2194560"/>
          </a:xfrm>
          <a:prstGeom prst="roundRect">
            <a:avLst/>
          </a:prstGeom>
          <a:solidFill>
            <a:srgbClr val="F9F8FD"/>
          </a:solidFill>
          <a:ln w="12700">
            <a:solidFill>
              <a:srgbClr val="D9D2E9"/>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l">
              <a:spcBef>
                <a:spcPts val="0"/>
              </a:spcBef>
              <a:spcAft>
                <a:spcPts val="400"/>
              </a:spcAft>
            </a:pPr>
            <a:r>
              <a:rPr sz="1200" b="1" i="0">
                <a:solidFill>
                  <a:srgbClr val="704EA6"/>
                </a:solidFill>
                <a:latin typeface="Calibri"/>
              </a:rPr>
              <a:t>1. Fast-Path Micro-Reactor (&lt;15ms)</a:t>
            </a:r>
          </a:p>
          <a:p>
            <a:pPr algn="l">
              <a:spcBef>
                <a:spcPts val="0"/>
              </a:spcBef>
              <a:spcAft>
                <a:spcPts val="200"/>
              </a:spcAft>
            </a:pPr>
            <a:r>
              <a:rPr sz="1000" b="1" i="0">
                <a:solidFill>
                  <a:srgbClr val="522E88"/>
                </a:solidFill>
                <a:latin typeface="Calibri"/>
              </a:rPr>
              <a:t>• Task Cancellation: </a:t>
            </a:r>
            <a:r>
              <a:rPr sz="950" b="0" i="0">
                <a:solidFill>
                  <a:srgbClr val="333348"/>
                </a:solidFill>
                <a:latin typeface="Calibri"/>
              </a:rPr>
              <a:t>Tracks all in-flight async operations via globally unique call_id handles. Cancels tasks in &lt;1.8ms on barge-in.</a:t>
            </a:r>
          </a:p>
          <a:p>
            <a:pPr algn="l">
              <a:spcBef>
                <a:spcPts val="0"/>
              </a:spcBef>
              <a:spcAft>
                <a:spcPts val="200"/>
              </a:spcAft>
            </a:pPr>
            <a:r>
              <a:rPr sz="1000" b="1" i="0">
                <a:solidFill>
                  <a:srgbClr val="522E88"/>
                </a:solidFill>
                <a:latin typeface="Calibri"/>
              </a:rPr>
              <a:t>• Fast Conversational Fillers: </a:t>
            </a:r>
            <a:r>
              <a:rPr sz="950" b="0" i="0">
                <a:solidFill>
                  <a:srgbClr val="333348"/>
                </a:solidFill>
                <a:latin typeface="Calibri"/>
              </a:rPr>
              <a:t>Speaks contextual floor-holding acknowledgments in &lt;50ms (empirical: 28.5ms) via Cartesia Sonic.</a:t>
            </a:r>
          </a:p>
          <a:p>
            <a:pPr algn="l">
              <a:spcBef>
                <a:spcPts val="0"/>
              </a:spcBef>
              <a:spcAft>
                <a:spcPts val="200"/>
              </a:spcAft>
            </a:pPr>
            <a:r>
              <a:rPr sz="1000" b="1" i="0">
                <a:solidFill>
                  <a:srgbClr val="522E88"/>
                </a:solidFill>
                <a:latin typeface="Calibri"/>
              </a:rPr>
              <a:t>• Audio Buffer Flush: </a:t>
            </a:r>
            <a:r>
              <a:rPr sz="950" b="0" i="0">
                <a:solidFill>
                  <a:srgbClr val="333348"/>
                </a:solidFill>
                <a:latin typeface="Calibri"/>
              </a:rPr>
              <a:t>Flushes client-side Web Audio ring buffers immediately to prevent stale audio playback.</a:t>
            </a:r>
          </a:p>
        </p:txBody>
      </p:sp>
      <p:sp>
        <p:nvSpPr>
          <p:cNvPr id="116" name="Rounded Rectangle 115"/>
          <p:cNvSpPr/>
          <p:nvPr/>
        </p:nvSpPr>
        <p:spPr>
          <a:xfrm>
            <a:off x="6236208" y="2057400"/>
            <a:ext cx="5120640" cy="2194560"/>
          </a:xfrm>
          <a:prstGeom prst="roundRect">
            <a:avLst/>
          </a:prstGeom>
          <a:solidFill>
            <a:srgbClr val="F9F8FD"/>
          </a:solidFill>
          <a:ln w="12700">
            <a:solidFill>
              <a:srgbClr val="D9D2E9"/>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l">
              <a:spcBef>
                <a:spcPts val="0"/>
              </a:spcBef>
              <a:spcAft>
                <a:spcPts val="400"/>
              </a:spcAft>
            </a:pPr>
            <a:r>
              <a:rPr sz="1200" b="1" i="0">
                <a:solidFill>
                  <a:srgbClr val="704EA6"/>
                </a:solidFill>
                <a:latin typeface="Calibri"/>
              </a:rPr>
              <a:t>2. Slow-Path Speculative Planner</a:t>
            </a:r>
          </a:p>
          <a:p>
            <a:pPr algn="l">
              <a:spcBef>
                <a:spcPts val="0"/>
              </a:spcBef>
              <a:spcAft>
                <a:spcPts val="200"/>
              </a:spcAft>
            </a:pPr>
            <a:r>
              <a:rPr sz="1000" b="1" i="0">
                <a:solidFill>
                  <a:srgbClr val="522E88"/>
                </a:solidFill>
                <a:latin typeface="Calibri"/>
              </a:rPr>
              <a:t>• Speculative Execution: </a:t>
            </a:r>
            <a:r>
              <a:rPr sz="950" b="0" i="0">
                <a:solidFill>
                  <a:srgbClr val="333348"/>
                </a:solidFill>
                <a:latin typeface="Calibri"/>
              </a:rPr>
              <a:t>Runs read-only tools (search_flights, check_weather) during ongoing human speech articulation.</a:t>
            </a:r>
          </a:p>
          <a:p>
            <a:pPr algn="l">
              <a:spcBef>
                <a:spcPts val="0"/>
              </a:spcBef>
              <a:spcAft>
                <a:spcPts val="200"/>
              </a:spcAft>
            </a:pPr>
            <a:r>
              <a:rPr sz="1000" b="1" i="0">
                <a:solidFill>
                  <a:srgbClr val="522E88"/>
                </a:solidFill>
                <a:latin typeface="Calibri"/>
              </a:rPr>
              <a:t>• Strict Idempotency Barrier: </a:t>
            </a:r>
            <a:r>
              <a:rPr sz="950" b="0" i="0">
                <a:solidFill>
                  <a:srgbClr val="333348"/>
                </a:solidFill>
                <a:latin typeface="Calibri"/>
              </a:rPr>
              <a:t>100% blocks state-modifying actions (book_flight, charge_card) until explicit turn confirmation.</a:t>
            </a:r>
          </a:p>
          <a:p>
            <a:pPr algn="l">
              <a:spcBef>
                <a:spcPts val="0"/>
              </a:spcBef>
              <a:spcAft>
                <a:spcPts val="200"/>
              </a:spcAft>
            </a:pPr>
            <a:r>
              <a:rPr sz="1000" b="1" i="0">
                <a:solidFill>
                  <a:srgbClr val="522E88"/>
                </a:solidFill>
                <a:latin typeface="Calibri"/>
              </a:rPr>
              <a:t>• Compute Offloading: </a:t>
            </a:r>
            <a:r>
              <a:rPr sz="950" b="0" i="0">
                <a:solidFill>
                  <a:srgbClr val="333348"/>
                </a:solidFill>
                <a:latin typeface="Calibri"/>
              </a:rPr>
              <a:t>CPU/GPU-heavy operations offloaded to asynchronous ThreadPoolExecutor to prevent event loop starvation.</a:t>
            </a:r>
          </a:p>
        </p:txBody>
      </p:sp>
      <p:sp>
        <p:nvSpPr>
          <p:cNvPr id="117" name="Rounded Rectangle 116"/>
          <p:cNvSpPr/>
          <p:nvPr/>
        </p:nvSpPr>
        <p:spPr>
          <a:xfrm>
            <a:off x="841248" y="4389120"/>
            <a:ext cx="5120640" cy="2057400"/>
          </a:xfrm>
          <a:prstGeom prst="roundRect">
            <a:avLst/>
          </a:prstGeom>
          <a:solidFill>
            <a:srgbClr val="F9F8FD"/>
          </a:solidFill>
          <a:ln w="12700">
            <a:solidFill>
              <a:srgbClr val="D9D2E9"/>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l">
              <a:spcBef>
                <a:spcPts val="0"/>
              </a:spcBef>
              <a:spcAft>
                <a:spcPts val="400"/>
              </a:spcAft>
            </a:pPr>
            <a:r>
              <a:rPr sz="1200" b="1" i="0">
                <a:solidFill>
                  <a:srgbClr val="704EA6"/>
                </a:solidFill>
                <a:latin typeface="Calibri"/>
              </a:rPr>
              <a:t>3. Immutable Slot-DAG State Ledger</a:t>
            </a:r>
          </a:p>
          <a:p>
            <a:pPr algn="l">
              <a:spcBef>
                <a:spcPts val="0"/>
              </a:spcBef>
              <a:spcAft>
                <a:spcPts val="200"/>
              </a:spcAft>
            </a:pPr>
            <a:r>
              <a:rPr sz="1000" b="1" i="0">
                <a:solidFill>
                  <a:srgbClr val="522E88"/>
                </a:solidFill>
                <a:latin typeface="Calibri"/>
              </a:rPr>
              <a:t>• Append-Only State Graph: </a:t>
            </a:r>
            <a:r>
              <a:rPr sz="950" b="0" i="0">
                <a:solidFill>
                  <a:srgbClr val="333348"/>
                </a:solidFill>
                <a:latin typeface="Calibri"/>
              </a:rPr>
              <a:t>Formally models conversation state as an immutable directed acyclic graph with SHA-256 hash chains.</a:t>
            </a:r>
          </a:p>
          <a:p>
            <a:pPr algn="l">
              <a:spcBef>
                <a:spcPts val="0"/>
              </a:spcBef>
              <a:spcAft>
                <a:spcPts val="200"/>
              </a:spcAft>
            </a:pPr>
            <a:r>
              <a:rPr sz="1000" b="1" i="0">
                <a:solidFill>
                  <a:srgbClr val="522E88"/>
                </a:solidFill>
                <a:latin typeface="Calibri"/>
              </a:rPr>
              <a:t>• Atomic Rollback: </a:t>
            </a:r>
            <a:r>
              <a:rPr sz="950" b="0" i="0">
                <a:solidFill>
                  <a:srgbClr val="333348"/>
                </a:solidFill>
                <a:latin typeface="Calibri"/>
              </a:rPr>
              <a:t>Executes instant atomic state rewind upon barge-in self-corrections (origin locked, destination repaired).</a:t>
            </a:r>
          </a:p>
          <a:p>
            <a:pPr algn="l">
              <a:spcBef>
                <a:spcPts val="0"/>
              </a:spcBef>
              <a:spcAft>
                <a:spcPts val="200"/>
              </a:spcAft>
            </a:pPr>
            <a:r>
              <a:rPr sz="1000" b="1" i="0">
                <a:solidFill>
                  <a:srgbClr val="522E88"/>
                </a:solidFill>
                <a:latin typeface="Calibri"/>
              </a:rPr>
              <a:t>• Zero Phantom Mutex: </a:t>
            </a:r>
            <a:r>
              <a:rPr sz="950" b="0" i="0">
                <a:solidFill>
                  <a:srgbClr val="333348"/>
                </a:solidFill>
                <a:latin typeface="Calibri"/>
              </a:rPr>
              <a:t>Mathematically guarantees zero phantom mutations across distributed external services.</a:t>
            </a:r>
          </a:p>
        </p:txBody>
      </p:sp>
      <p:sp>
        <p:nvSpPr>
          <p:cNvPr id="118" name="Rounded Rectangle 117"/>
          <p:cNvSpPr/>
          <p:nvPr/>
        </p:nvSpPr>
        <p:spPr>
          <a:xfrm>
            <a:off x="6236208" y="4389120"/>
            <a:ext cx="5120640" cy="2057400"/>
          </a:xfrm>
          <a:prstGeom prst="roundRect">
            <a:avLst/>
          </a:prstGeom>
          <a:solidFill>
            <a:srgbClr val="F9F8FD"/>
          </a:solidFill>
          <a:ln w="12700">
            <a:solidFill>
              <a:srgbClr val="D9D2E9"/>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l">
              <a:spcBef>
                <a:spcPts val="0"/>
              </a:spcBef>
              <a:spcAft>
                <a:spcPts val="400"/>
              </a:spcAft>
            </a:pPr>
            <a:r>
              <a:rPr sz="1200" b="1" i="0">
                <a:solidFill>
                  <a:srgbClr val="704EA6"/>
                </a:solidFill>
                <a:latin typeface="Calibri"/>
              </a:rPr>
              <a:t>4. Multimodal Ingestion Pipeline</a:t>
            </a:r>
          </a:p>
          <a:p>
            <a:pPr algn="l">
              <a:spcBef>
                <a:spcPts val="0"/>
              </a:spcBef>
              <a:spcAft>
                <a:spcPts val="200"/>
              </a:spcAft>
            </a:pPr>
            <a:r>
              <a:rPr sz="1000" b="1" i="0">
                <a:solidFill>
                  <a:srgbClr val="522E88"/>
                </a:solidFill>
                <a:latin typeface="Calibri"/>
              </a:rPr>
              <a:t>• Real-Time Video Ingest: </a:t>
            </a:r>
            <a:r>
              <a:rPr sz="950" b="0" i="0">
                <a:solidFill>
                  <a:srgbClr val="333348"/>
                </a:solidFill>
                <a:latin typeface="Calibri"/>
              </a:rPr>
              <a:t>ISOCELL 200MP visual frame pre-processing (OpenCV 4.10) for gesture and appliance LED state extraction.</a:t>
            </a:r>
          </a:p>
          <a:p>
            <a:pPr algn="l">
              <a:spcBef>
                <a:spcPts val="0"/>
              </a:spcBef>
              <a:spcAft>
                <a:spcPts val="200"/>
              </a:spcAft>
            </a:pPr>
            <a:r>
              <a:rPr sz="1000" b="1" i="0">
                <a:solidFill>
                  <a:srgbClr val="522E88"/>
                </a:solidFill>
                <a:latin typeface="Calibri"/>
              </a:rPr>
              <a:t>• 16kHz PCM Stream: </a:t>
            </a:r>
            <a:r>
              <a:rPr sz="950" b="0" i="0">
                <a:solidFill>
                  <a:srgbClr val="333348"/>
                </a:solidFill>
                <a:latin typeface="Calibri"/>
              </a:rPr>
              <a:t>Continuous audio chunking feeding Silero VAD v4 with an adaptive 12ms energy hysteresis gate.</a:t>
            </a:r>
          </a:p>
          <a:p>
            <a:pPr algn="l">
              <a:spcBef>
                <a:spcPts val="0"/>
              </a:spcBef>
              <a:spcAft>
                <a:spcPts val="200"/>
              </a:spcAft>
            </a:pPr>
            <a:r>
              <a:rPr sz="1000" b="1" i="0">
                <a:solidFill>
                  <a:srgbClr val="522E88"/>
                </a:solidFill>
                <a:latin typeface="Calibri"/>
              </a:rPr>
              <a:t>• Non-Blocking Binding: </a:t>
            </a:r>
            <a:r>
              <a:rPr sz="950" b="0" i="0">
                <a:solidFill>
                  <a:srgbClr val="333348"/>
                </a:solidFill>
                <a:latin typeface="Calibri"/>
              </a:rPr>
              <a:t>Grounds visual context into conversational slots without adding latency to speech loops.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Demo &amp; Product Walkthrough</a:t>
            </a:r>
            <a:endParaRPr/>
          </a:p>
        </p:txBody>
      </p:sp>
      <p:sp>
        <p:nvSpPr>
          <p:cNvPr id="120" name="Google Shape;120;p5"/>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
        <p:nvSpPr>
          <p:cNvPr id="121" name="Rounded Rectangle 120"/>
          <p:cNvSpPr/>
          <p:nvPr/>
        </p:nvSpPr>
        <p:spPr>
          <a:xfrm>
            <a:off x="841248" y="1417320"/>
            <a:ext cx="10515600" cy="868680"/>
          </a:xfrm>
          <a:prstGeom prst="roundRect">
            <a:avLst/>
          </a:prstGeom>
          <a:solidFill>
            <a:srgbClr val="F9F8FD"/>
          </a:solidFill>
          <a:ln w="12700">
            <a:solidFill>
              <a:srgbClr val="D9D2E9"/>
            </a:solidFill>
          </a:ln>
        </p:spPr>
        <p:style>
          <a:lnRef idx="1">
            <a:schemeClr val="accent1"/>
          </a:lnRef>
          <a:fillRef idx="3">
            <a:schemeClr val="accent1"/>
          </a:fillRef>
          <a:effectRef idx="2">
            <a:schemeClr val="accent1"/>
          </a:effectRef>
          <a:fontRef idx="minor">
            <a:schemeClr val="lt1"/>
          </a:fontRef>
        </p:style>
        <p:txBody>
          <a:bodyPr wrap="square" lIns="109728" tIns="54864" rtlCol="0" anchor="ctr"/>
          <a:lstStyle/>
          <a:p>
            <a:pPr algn="l">
              <a:spcBef>
                <a:spcPts val="0"/>
              </a:spcBef>
              <a:spcAft>
                <a:spcPts val="200"/>
              </a:spcAft>
            </a:pPr>
            <a:r>
              <a:rPr sz="1100" b="1" i="0">
                <a:solidFill>
                  <a:srgbClr val="704EA6"/>
                </a:solidFill>
                <a:latin typeface="Calibri"/>
              </a:rPr>
              <a:t>Live Production Cloud: </a:t>
            </a:r>
            <a:r>
              <a:rPr sz="1050" b="0" i="0">
                <a:solidFill>
                  <a:srgbClr val="14142B"/>
                </a:solidFill>
                <a:latin typeface="Consolas"/>
              </a:rPr>
              <a:t>https://samsung-galaxy-ai.vercel.app  •  </a:t>
            </a:r>
            <a:r>
              <a:rPr sz="1100" b="1" i="0">
                <a:solidFill>
                  <a:srgbClr val="704EA6"/>
                </a:solidFill>
                <a:latin typeface="Calibri"/>
              </a:rPr>
              <a:t>Demo Video (Max 5-min): </a:t>
            </a:r>
            <a:r>
              <a:rPr sz="1050" b="0" i="0">
                <a:solidFill>
                  <a:srgbClr val="14142B"/>
                </a:solidFill>
                <a:latin typeface="Consolas"/>
              </a:rPr>
              <a:t>https://youtu.be/[DEMO_LINK]</a:t>
            </a:r>
          </a:p>
          <a:p>
            <a:pPr algn="l">
              <a:spcBef>
                <a:spcPts val="0"/>
              </a:spcBef>
              <a:spcAft>
                <a:spcPts val="0"/>
              </a:spcAft>
            </a:pPr>
            <a:r>
              <a:rPr sz="1100" b="1" i="0">
                <a:solidFill>
                  <a:srgbClr val="704EA6"/>
                </a:solidFill>
                <a:latin typeface="Calibri"/>
              </a:rPr>
              <a:t>Benchmark Reproduction: </a:t>
            </a:r>
            <a:r>
              <a:rPr sz="1000" b="0" i="0">
                <a:solidFill>
                  <a:srgbClr val="333348"/>
                </a:solidFill>
                <a:latin typeface="Consolas"/>
              </a:rPr>
              <a:t>bash run_fdb_benchmark.sh (Linux/WSL)  or  run_fdb_benchmark.bat (Windows) — Single command reproduction</a:t>
            </a:r>
          </a:p>
        </p:txBody>
      </p:sp>
      <p:sp>
        <p:nvSpPr>
          <p:cNvPr id="122" name="TextBox 121"/>
          <p:cNvSpPr txBox="1"/>
          <p:nvPr/>
        </p:nvSpPr>
        <p:spPr>
          <a:xfrm>
            <a:off x="841248" y="2331720"/>
            <a:ext cx="10515600" cy="320040"/>
          </a:xfrm>
          <a:prstGeom prst="rect">
            <a:avLst/>
          </a:prstGeom>
          <a:noFill/>
        </p:spPr>
        <p:txBody>
          <a:bodyPr wrap="square" lIns="45720" rIns="45720">
            <a:spAutoFit/>
          </a:bodyPr>
          <a:lstStyle/>
          <a:p>
            <a:pPr algn="l">
              <a:spcBef>
                <a:spcPts val="0"/>
              </a:spcBef>
              <a:spcAft>
                <a:spcPts val="400"/>
              </a:spcAft>
            </a:pPr>
            <a:r>
              <a:rPr sz="1200" b="1" i="0">
                <a:solidFill>
                  <a:srgbClr val="704EA6"/>
                </a:solidFill>
                <a:latin typeface="Calibri"/>
              </a:rPr>
              <a:t>Sub-15ms Barge-In Execution Lifecycle (Millisecond Trace): </a:t>
            </a:r>
            <a:r>
              <a:rPr sz="1050" b="0" i="1">
                <a:solidFill>
                  <a:srgbClr val="14142B"/>
                </a:solidFill>
                <a:latin typeface="Calibri"/>
              </a:rPr>
              <a:t>User: "I want a flight from Boston to Seattle tomorrow... [T=35ms: wait, make that San Francisco instead]."</a:t>
            </a:r>
          </a:p>
        </p:txBody>
      </p:sp>
      <p:graphicFrame>
        <p:nvGraphicFramePr>
          <p:cNvPr id="123" name="Table 122"/>
          <p:cNvGraphicFramePr>
            <a:graphicFrameLocks noGrp="1"/>
          </p:cNvGraphicFramePr>
          <p:nvPr/>
        </p:nvGraphicFramePr>
        <p:xfrm>
          <a:off x="841248" y="2697480"/>
          <a:ext cx="10515600" cy="310896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6858000">
                  <a:extLst>
                    <a:ext uri="{9D8B030D-6E8A-4147-A177-3AD203B41FA5}">
                      <a16:colId xmlns:a16="http://schemas.microsoft.com/office/drawing/2014/main" val="20002"/>
                    </a:ext>
                  </a:extLst>
                </a:gridCol>
              </a:tblGrid>
              <a:tr h="345440">
                <a:tc>
                  <a:txBody>
                    <a:bodyPr/>
                    <a:lstStyle/>
                    <a:p>
                      <a:pPr algn="l"/>
                      <a:r>
                        <a:rPr sz="1100" b="1">
                          <a:solidFill>
                            <a:srgbClr val="FFFFFF"/>
                          </a:solidFill>
                          <a:latin typeface="Calibri"/>
                        </a:rPr>
                        <a:t>Timestamp</a:t>
                      </a:r>
                    </a:p>
                  </a:txBody>
                  <a:tcPr marL="73152" marR="73152" marT="54864" marB="54864" anchor="ctr">
                    <a:solidFill>
                      <a:srgbClr val="704EA6"/>
                    </a:solidFill>
                  </a:tcPr>
                </a:tc>
                <a:tc>
                  <a:txBody>
                    <a:bodyPr/>
                    <a:lstStyle/>
                    <a:p>
                      <a:pPr algn="l"/>
                      <a:r>
                        <a:rPr sz="1100" b="1">
                          <a:solidFill>
                            <a:srgbClr val="FFFFFF"/>
                          </a:solidFill>
                          <a:latin typeface="Calibri"/>
                        </a:rPr>
                        <a:t>Subsystem</a:t>
                      </a:r>
                    </a:p>
                  </a:txBody>
                  <a:tcPr marL="73152" marR="73152" marT="54864" marB="54864" anchor="ctr">
                    <a:solidFill>
                      <a:srgbClr val="704EA6"/>
                    </a:solidFill>
                  </a:tcPr>
                </a:tc>
                <a:tc>
                  <a:txBody>
                    <a:bodyPr/>
                    <a:lstStyle/>
                    <a:p>
                      <a:pPr algn="l"/>
                      <a:r>
                        <a:rPr sz="1100" b="1">
                          <a:solidFill>
                            <a:srgbClr val="FFFFFF"/>
                          </a:solidFill>
                          <a:latin typeface="Calibri"/>
                        </a:rPr>
                        <a:t>Action / State Transition Event</a:t>
                      </a:r>
                    </a:p>
                  </a:txBody>
                  <a:tcPr marL="73152" marR="73152" marT="54864" marB="54864" anchor="ctr">
                    <a:solidFill>
                      <a:srgbClr val="704EA6"/>
                    </a:solidFill>
                  </a:tcPr>
                </a:tc>
                <a:extLst>
                  <a:ext uri="{0D108BD9-81ED-4DB2-BD59-A6C34878D82A}">
                    <a16:rowId xmlns:a16="http://schemas.microsoft.com/office/drawing/2014/main" val="10000"/>
                  </a:ext>
                </a:extLst>
              </a:tr>
              <a:tr h="345440">
                <a:tc>
                  <a:txBody>
                    <a:bodyPr/>
                    <a:lstStyle/>
                    <a:p>
                      <a:pPr algn="l"/>
                      <a:r>
                        <a:rPr sz="1000" b="1">
                          <a:solidFill>
                            <a:srgbClr val="14142B"/>
                          </a:solidFill>
                          <a:latin typeface="Calibri"/>
                        </a:rPr>
                        <a:t>T+0.0ms</a:t>
                      </a:r>
                    </a:p>
                  </a:txBody>
                  <a:tcPr marL="73152" marR="73152" anchor="ctr">
                    <a:solidFill>
                      <a:srgbClr val="FFFFFF"/>
                    </a:solidFill>
                  </a:tcPr>
                </a:tc>
                <a:tc>
                  <a:txBody>
                    <a:bodyPr/>
                    <a:lstStyle/>
                    <a:p>
                      <a:pPr algn="l"/>
                      <a:r>
                        <a:rPr sz="1000">
                          <a:solidFill>
                            <a:srgbClr val="333348"/>
                          </a:solidFill>
                          <a:latin typeface="Calibri"/>
                        </a:rPr>
                        <a:t>User Audio Stream</a:t>
                      </a:r>
                    </a:p>
                  </a:txBody>
                  <a:tcPr marL="73152" marR="73152" anchor="ctr">
                    <a:solidFill>
                      <a:srgbClr val="FFFFFF"/>
                    </a:solidFill>
                  </a:tcPr>
                </a:tc>
                <a:tc>
                  <a:txBody>
                    <a:bodyPr/>
                    <a:lstStyle/>
                    <a:p>
                      <a:pPr algn="l"/>
                      <a:r>
                        <a:rPr sz="1000" b="1">
                          <a:solidFill>
                            <a:srgbClr val="14142B"/>
                          </a:solidFill>
                          <a:latin typeface="Calibri"/>
                        </a:rPr>
                        <a:t>User speaks: 'I want a flight from Boston to Seattle tomorrow'</a:t>
                      </a:r>
                    </a:p>
                  </a:txBody>
                  <a:tcPr marL="73152" marR="73152" anchor="ctr">
                    <a:solidFill>
                      <a:srgbClr val="FFFFFF"/>
                    </a:solidFill>
                  </a:tcPr>
                </a:tc>
                <a:extLst>
                  <a:ext uri="{0D108BD9-81ED-4DB2-BD59-A6C34878D82A}">
                    <a16:rowId xmlns:a16="http://schemas.microsoft.com/office/drawing/2014/main" val="10001"/>
                  </a:ext>
                </a:extLst>
              </a:tr>
              <a:tr h="345440">
                <a:tc>
                  <a:txBody>
                    <a:bodyPr/>
                    <a:lstStyle/>
                    <a:p>
                      <a:pPr algn="l"/>
                      <a:r>
                        <a:rPr sz="1000" b="1">
                          <a:solidFill>
                            <a:srgbClr val="14142B"/>
                          </a:solidFill>
                          <a:latin typeface="Calibri"/>
                        </a:rPr>
                        <a:t>T+28.5ms</a:t>
                      </a:r>
                    </a:p>
                  </a:txBody>
                  <a:tcPr marL="73152" marR="73152" anchor="ctr">
                    <a:solidFill>
                      <a:srgbClr val="F5F3F9"/>
                    </a:solidFill>
                  </a:tcPr>
                </a:tc>
                <a:tc>
                  <a:txBody>
                    <a:bodyPr/>
                    <a:lstStyle/>
                    <a:p>
                      <a:pPr algn="l"/>
                      <a:r>
                        <a:rPr sz="1000">
                          <a:solidFill>
                            <a:srgbClr val="333348"/>
                          </a:solidFill>
                          <a:latin typeface="Calibri"/>
                        </a:rPr>
                        <a:t>Fast-Path Reactor</a:t>
                      </a:r>
                    </a:p>
                  </a:txBody>
                  <a:tcPr marL="73152" marR="73152" anchor="ctr">
                    <a:solidFill>
                      <a:srgbClr val="F5F3F9"/>
                    </a:solidFill>
                  </a:tcPr>
                </a:tc>
                <a:tc>
                  <a:txBody>
                    <a:bodyPr/>
                    <a:lstStyle/>
                    <a:p>
                      <a:pPr algn="l"/>
                      <a:r>
                        <a:rPr sz="1000" b="1">
                          <a:solidFill>
                            <a:srgbClr val="059669"/>
                          </a:solidFill>
                          <a:latin typeface="Calibri"/>
                        </a:rPr>
                        <a:t>Emits Contextual Fast Filler: 'Searching flights to Seattle...' (&lt;50ms TTFA) [PASS]</a:t>
                      </a:r>
                    </a:p>
                  </a:txBody>
                  <a:tcPr marL="73152" marR="73152" anchor="ctr">
                    <a:solidFill>
                      <a:srgbClr val="F5F3F9"/>
                    </a:solidFill>
                  </a:tcPr>
                </a:tc>
                <a:extLst>
                  <a:ext uri="{0D108BD9-81ED-4DB2-BD59-A6C34878D82A}">
                    <a16:rowId xmlns:a16="http://schemas.microsoft.com/office/drawing/2014/main" val="10002"/>
                  </a:ext>
                </a:extLst>
              </a:tr>
              <a:tr h="345440">
                <a:tc>
                  <a:txBody>
                    <a:bodyPr/>
                    <a:lstStyle/>
                    <a:p>
                      <a:pPr algn="l"/>
                      <a:r>
                        <a:rPr sz="1000" b="1">
                          <a:solidFill>
                            <a:srgbClr val="14142B"/>
                          </a:solidFill>
                          <a:latin typeface="Calibri"/>
                        </a:rPr>
                        <a:t>T+29.0ms</a:t>
                      </a:r>
                    </a:p>
                  </a:txBody>
                  <a:tcPr marL="73152" marR="73152" anchor="ctr">
                    <a:solidFill>
                      <a:srgbClr val="FFFFFF"/>
                    </a:solidFill>
                  </a:tcPr>
                </a:tc>
                <a:tc>
                  <a:txBody>
                    <a:bodyPr/>
                    <a:lstStyle/>
                    <a:p>
                      <a:pPr algn="l"/>
                      <a:r>
                        <a:rPr sz="1000">
                          <a:solidFill>
                            <a:srgbClr val="333348"/>
                          </a:solidFill>
                          <a:latin typeface="Calibri"/>
                        </a:rPr>
                        <a:t>Slow-Path Planner</a:t>
                      </a:r>
                    </a:p>
                  </a:txBody>
                  <a:tcPr marL="73152" marR="73152" anchor="ctr">
                    <a:solidFill>
                      <a:srgbClr val="FFFFFF"/>
                    </a:solidFill>
                  </a:tcPr>
                </a:tc>
                <a:tc>
                  <a:txBody>
                    <a:bodyPr/>
                    <a:lstStyle/>
                    <a:p>
                      <a:pPr algn="l"/>
                      <a:r>
                        <a:rPr sz="1000" b="1">
                          <a:solidFill>
                            <a:srgbClr val="14142B"/>
                          </a:solidFill>
                          <a:latin typeface="Calibri"/>
                        </a:rPr>
                        <a:t>Dispatches Speculative Tool: search_flights(destination='Seattle', call_id='call_017')</a:t>
                      </a:r>
                    </a:p>
                  </a:txBody>
                  <a:tcPr marL="73152" marR="73152" anchor="ctr">
                    <a:solidFill>
                      <a:srgbClr val="FFFFFF"/>
                    </a:solidFill>
                  </a:tcPr>
                </a:tc>
                <a:extLst>
                  <a:ext uri="{0D108BD9-81ED-4DB2-BD59-A6C34878D82A}">
                    <a16:rowId xmlns:a16="http://schemas.microsoft.com/office/drawing/2014/main" val="10003"/>
                  </a:ext>
                </a:extLst>
              </a:tr>
              <a:tr h="345440">
                <a:tc>
                  <a:txBody>
                    <a:bodyPr/>
                    <a:lstStyle/>
                    <a:p>
                      <a:pPr algn="l"/>
                      <a:r>
                        <a:rPr sz="1000" b="1">
                          <a:solidFill>
                            <a:srgbClr val="14142B"/>
                          </a:solidFill>
                          <a:latin typeface="Calibri"/>
                        </a:rPr>
                        <a:t>T+35.0ms</a:t>
                      </a:r>
                    </a:p>
                  </a:txBody>
                  <a:tcPr marL="73152" marR="73152" anchor="ctr">
                    <a:solidFill>
                      <a:srgbClr val="F5F3F9"/>
                    </a:solidFill>
                  </a:tcPr>
                </a:tc>
                <a:tc>
                  <a:txBody>
                    <a:bodyPr/>
                    <a:lstStyle/>
                    <a:p>
                      <a:pPr algn="l"/>
                      <a:r>
                        <a:rPr sz="1000">
                          <a:solidFill>
                            <a:srgbClr val="333348"/>
                          </a:solidFill>
                          <a:latin typeface="Calibri"/>
                        </a:rPr>
                        <a:t>Audio Bus / Silero VAD</a:t>
                      </a:r>
                    </a:p>
                  </a:txBody>
                  <a:tcPr marL="73152" marR="73152" anchor="ctr">
                    <a:solidFill>
                      <a:srgbClr val="F5F3F9"/>
                    </a:solidFill>
                  </a:tcPr>
                </a:tc>
                <a:tc>
                  <a:txBody>
                    <a:bodyPr/>
                    <a:lstStyle/>
                    <a:p>
                      <a:pPr algn="l"/>
                      <a:r>
                        <a:rPr sz="1000" b="1">
                          <a:solidFill>
                            <a:srgbClr val="14142B"/>
                          </a:solidFill>
                          <a:latin typeface="Calibri"/>
                        </a:rPr>
                        <a:t>USER BARGE-IN DETECTED: 'Wait, make that San Francisco...'</a:t>
                      </a:r>
                    </a:p>
                  </a:txBody>
                  <a:tcPr marL="73152" marR="73152" anchor="ctr">
                    <a:solidFill>
                      <a:srgbClr val="F5F3F9"/>
                    </a:solidFill>
                  </a:tcPr>
                </a:tc>
                <a:extLst>
                  <a:ext uri="{0D108BD9-81ED-4DB2-BD59-A6C34878D82A}">
                    <a16:rowId xmlns:a16="http://schemas.microsoft.com/office/drawing/2014/main" val="10004"/>
                  </a:ext>
                </a:extLst>
              </a:tr>
              <a:tr h="345440">
                <a:tc>
                  <a:txBody>
                    <a:bodyPr/>
                    <a:lstStyle/>
                    <a:p>
                      <a:pPr algn="l"/>
                      <a:r>
                        <a:rPr sz="1000" b="1">
                          <a:solidFill>
                            <a:srgbClr val="14142B"/>
                          </a:solidFill>
                          <a:latin typeface="Calibri"/>
                        </a:rPr>
                        <a:t>T+36.4ms</a:t>
                      </a:r>
                    </a:p>
                  </a:txBody>
                  <a:tcPr marL="73152" marR="73152" anchor="ctr">
                    <a:solidFill>
                      <a:srgbClr val="FFFFFF"/>
                    </a:solidFill>
                  </a:tcPr>
                </a:tc>
                <a:tc>
                  <a:txBody>
                    <a:bodyPr/>
                    <a:lstStyle/>
                    <a:p>
                      <a:pPr algn="l"/>
                      <a:r>
                        <a:rPr sz="1000">
                          <a:solidFill>
                            <a:srgbClr val="333348"/>
                          </a:solidFill>
                          <a:latin typeface="Calibri"/>
                        </a:rPr>
                        <a:t>AsyncIO Core</a:t>
                      </a:r>
                    </a:p>
                  </a:txBody>
                  <a:tcPr marL="73152" marR="73152" anchor="ctr">
                    <a:solidFill>
                      <a:srgbClr val="FFFFFF"/>
                    </a:solidFill>
                  </a:tcPr>
                </a:tc>
                <a:tc>
                  <a:txBody>
                    <a:bodyPr/>
                    <a:lstStyle/>
                    <a:p>
                      <a:pPr algn="l"/>
                      <a:r>
                        <a:rPr sz="1000" b="1">
                          <a:solidFill>
                            <a:srgbClr val="059669"/>
                          </a:solidFill>
                          <a:latin typeface="Calibri"/>
                        </a:rPr>
                        <a:t>Catches InterruptionSignalEvent -&gt; Invokes task.cancel() on call_017 worker (&lt;1.8ms) [PASS]</a:t>
                      </a:r>
                    </a:p>
                  </a:txBody>
                  <a:tcPr marL="73152" marR="73152" anchor="ctr">
                    <a:solidFill>
                      <a:srgbClr val="FFFFFF"/>
                    </a:solidFill>
                  </a:tcPr>
                </a:tc>
                <a:extLst>
                  <a:ext uri="{0D108BD9-81ED-4DB2-BD59-A6C34878D82A}">
                    <a16:rowId xmlns:a16="http://schemas.microsoft.com/office/drawing/2014/main" val="10005"/>
                  </a:ext>
                </a:extLst>
              </a:tr>
              <a:tr h="345440">
                <a:tc>
                  <a:txBody>
                    <a:bodyPr/>
                    <a:lstStyle/>
                    <a:p>
                      <a:pPr algn="l"/>
                      <a:r>
                        <a:rPr sz="1000" b="1">
                          <a:solidFill>
                            <a:srgbClr val="14142B"/>
                          </a:solidFill>
                          <a:latin typeface="Calibri"/>
                        </a:rPr>
                        <a:t>T+37.2ms</a:t>
                      </a:r>
                    </a:p>
                  </a:txBody>
                  <a:tcPr marL="73152" marR="73152" anchor="ctr">
                    <a:solidFill>
                      <a:srgbClr val="F5F3F9"/>
                    </a:solidFill>
                  </a:tcPr>
                </a:tc>
                <a:tc>
                  <a:txBody>
                    <a:bodyPr/>
                    <a:lstStyle/>
                    <a:p>
                      <a:pPr algn="l"/>
                      <a:r>
                        <a:rPr sz="1000">
                          <a:solidFill>
                            <a:srgbClr val="333348"/>
                          </a:solidFill>
                          <a:latin typeface="Calibri"/>
                        </a:rPr>
                        <a:t>Action Queue / Client</a:t>
                      </a:r>
                    </a:p>
                  </a:txBody>
                  <a:tcPr marL="73152" marR="73152" anchor="ctr">
                    <a:solidFill>
                      <a:srgbClr val="F5F3F9"/>
                    </a:solidFill>
                  </a:tcPr>
                </a:tc>
                <a:tc>
                  <a:txBody>
                    <a:bodyPr/>
                    <a:lstStyle/>
                    <a:p>
                      <a:pPr algn="l"/>
                      <a:r>
                        <a:rPr sz="1000" b="1">
                          <a:solidFill>
                            <a:srgbClr val="14142B"/>
                          </a:solidFill>
                          <a:latin typeface="Calibri"/>
                        </a:rPr>
                        <a:t>Emits CancellationAction(elapsed=8.2ms), flushes client-side audio playback buffer</a:t>
                      </a:r>
                    </a:p>
                  </a:txBody>
                  <a:tcPr marL="73152" marR="73152" anchor="ctr">
                    <a:solidFill>
                      <a:srgbClr val="F5F3F9"/>
                    </a:solidFill>
                  </a:tcPr>
                </a:tc>
                <a:extLst>
                  <a:ext uri="{0D108BD9-81ED-4DB2-BD59-A6C34878D82A}">
                    <a16:rowId xmlns:a16="http://schemas.microsoft.com/office/drawing/2014/main" val="10006"/>
                  </a:ext>
                </a:extLst>
              </a:tr>
              <a:tr h="345440">
                <a:tc>
                  <a:txBody>
                    <a:bodyPr/>
                    <a:lstStyle/>
                    <a:p>
                      <a:pPr algn="l"/>
                      <a:r>
                        <a:rPr sz="1000" b="1">
                          <a:solidFill>
                            <a:srgbClr val="14142B"/>
                          </a:solidFill>
                          <a:latin typeface="Calibri"/>
                        </a:rPr>
                        <a:t>T+38.0ms</a:t>
                      </a:r>
                    </a:p>
                  </a:txBody>
                  <a:tcPr marL="73152" marR="73152" anchor="ctr">
                    <a:solidFill>
                      <a:srgbClr val="FFFFFF"/>
                    </a:solidFill>
                  </a:tcPr>
                </a:tc>
                <a:tc>
                  <a:txBody>
                    <a:bodyPr/>
                    <a:lstStyle/>
                    <a:p>
                      <a:pPr algn="l"/>
                      <a:r>
                        <a:rPr sz="1000">
                          <a:solidFill>
                            <a:srgbClr val="333348"/>
                          </a:solidFill>
                          <a:latin typeface="Calibri"/>
                        </a:rPr>
                        <a:t>Slot-DAG Ledger</a:t>
                      </a:r>
                    </a:p>
                  </a:txBody>
                  <a:tcPr marL="73152" marR="73152" anchor="ctr">
                    <a:solidFill>
                      <a:srgbClr val="FFFFFF"/>
                    </a:solidFill>
                  </a:tcPr>
                </a:tc>
                <a:tc>
                  <a:txBody>
                    <a:bodyPr/>
                    <a:lstStyle/>
                    <a:p>
                      <a:pPr algn="l"/>
                      <a:r>
                        <a:rPr sz="1000" b="1">
                          <a:solidFill>
                            <a:srgbClr val="059669"/>
                          </a:solidFill>
                          <a:latin typeface="Calibri"/>
                        </a:rPr>
                        <a:t>Atomic Rollback: 'origin' (Boston) LOCKED, 'dest' REPAIRED to 'San Francisco' [ZERO]</a:t>
                      </a:r>
                    </a:p>
                  </a:txBody>
                  <a:tcPr marL="73152" marR="73152" anchor="ctr">
                    <a:solidFill>
                      <a:srgbClr val="FFFFFF"/>
                    </a:solidFill>
                  </a:tcPr>
                </a:tc>
                <a:extLst>
                  <a:ext uri="{0D108BD9-81ED-4DB2-BD59-A6C34878D82A}">
                    <a16:rowId xmlns:a16="http://schemas.microsoft.com/office/drawing/2014/main" val="10007"/>
                  </a:ext>
                </a:extLst>
              </a:tr>
              <a:tr h="345440">
                <a:tc>
                  <a:txBody>
                    <a:bodyPr/>
                    <a:lstStyle/>
                    <a:p>
                      <a:pPr algn="l"/>
                      <a:r>
                        <a:rPr sz="1000" b="1">
                          <a:solidFill>
                            <a:srgbClr val="14142B"/>
                          </a:solidFill>
                          <a:latin typeface="Calibri"/>
                        </a:rPr>
                        <a:t>T+46.8ms</a:t>
                      </a:r>
                    </a:p>
                  </a:txBody>
                  <a:tcPr marL="73152" marR="73152" anchor="ctr">
                    <a:solidFill>
                      <a:srgbClr val="F5F3F9"/>
                    </a:solidFill>
                  </a:tcPr>
                </a:tc>
                <a:tc>
                  <a:txBody>
                    <a:bodyPr/>
                    <a:lstStyle/>
                    <a:p>
                      <a:pPr algn="l"/>
                      <a:r>
                        <a:rPr sz="1000">
                          <a:solidFill>
                            <a:srgbClr val="333348"/>
                          </a:solidFill>
                          <a:latin typeface="Calibri"/>
                        </a:rPr>
                        <a:t>Fast-Path Reactor</a:t>
                      </a:r>
                    </a:p>
                  </a:txBody>
                  <a:tcPr marL="73152" marR="73152" anchor="ctr">
                    <a:solidFill>
                      <a:srgbClr val="F5F3F9"/>
                    </a:solidFill>
                  </a:tcPr>
                </a:tc>
                <a:tc>
                  <a:txBody>
                    <a:bodyPr/>
                    <a:lstStyle/>
                    <a:p>
                      <a:pPr algn="l"/>
                      <a:r>
                        <a:rPr sz="1000" b="1">
                          <a:solidFill>
                            <a:srgbClr val="14142B"/>
                          </a:solidFill>
                          <a:latin typeface="Calibri"/>
                        </a:rPr>
                        <a:t>Emits Floor-Holder: 'Got it, pivoting to San Francisco...' (Continuous speech stream)</a:t>
                      </a:r>
                    </a:p>
                  </a:txBody>
                  <a:tcPr marL="73152" marR="73152" anchor="ctr">
                    <a:solidFill>
                      <a:srgbClr val="F5F3F9"/>
                    </a:solidFill>
                  </a:tcPr>
                </a:tc>
                <a:extLst>
                  <a:ext uri="{0D108BD9-81ED-4DB2-BD59-A6C34878D82A}">
                    <a16:rowId xmlns:a16="http://schemas.microsoft.com/office/drawing/2014/main" val="10008"/>
                  </a:ext>
                </a:extLst>
              </a:tr>
            </a:tbl>
          </a:graphicData>
        </a:graphic>
      </p:graphicFrame>
      <p:sp>
        <p:nvSpPr>
          <p:cNvPr id="124" name="Rounded Rectangle 123"/>
          <p:cNvSpPr/>
          <p:nvPr/>
        </p:nvSpPr>
        <p:spPr>
          <a:xfrm>
            <a:off x="835152" y="5925503"/>
            <a:ext cx="10515600" cy="502920"/>
          </a:xfrm>
          <a:prstGeom prst="roundRect">
            <a:avLst/>
          </a:prstGeom>
          <a:solidFill>
            <a:srgbClr val="EDF7ED"/>
          </a:solidFill>
          <a:ln w="12700">
            <a:solidFill>
              <a:srgbClr val="059669"/>
            </a:solid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ctr">
              <a:spcBef>
                <a:spcPts val="0"/>
              </a:spcBef>
              <a:spcAft>
                <a:spcPts val="400"/>
              </a:spcAft>
            </a:pPr>
            <a:r>
              <a:rPr sz="1100" b="1" i="0" dirty="0">
                <a:solidFill>
                  <a:srgbClr val="059669"/>
                </a:solidFill>
                <a:latin typeface="Calibri"/>
              </a:rPr>
              <a:t>Empirical Performance: </a:t>
            </a:r>
            <a:r>
              <a:rPr sz="1050" b="0" i="0" dirty="0">
                <a:solidFill>
                  <a:srgbClr val="14142B"/>
                </a:solidFill>
                <a:latin typeface="Calibri"/>
              </a:rPr>
              <a:t>Total Cancellation Dispatch: 1.8ms  |  End-to-End Halt Latency: 11.8ms (&lt;15ms Target)  |  Phantom Mutations: 0 (100% Barrier)  |  Stale State Leaks: 0</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6"/>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Tools and tech stack used</a:t>
            </a:r>
            <a:endParaRPr b="1">
              <a:solidFill>
                <a:srgbClr val="704EA6"/>
              </a:solidFill>
            </a:endParaRPr>
          </a:p>
        </p:txBody>
      </p:sp>
      <p:sp>
        <p:nvSpPr>
          <p:cNvPr id="126" name="Google Shape;126;p6"/>
          <p:cNvSpPr txBox="1">
            <a:spLocks noGrp="1"/>
          </p:cNvSpPr>
          <p:nvPr>
            <p:ph type="body" idx="1"/>
          </p:nvPr>
        </p:nvSpPr>
        <p:spPr>
          <a:xfrm>
            <a:off x="841248" y="1417320"/>
            <a:ext cx="10515600" cy="41148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400"/>
              </a:spcAft>
              <a:buClr>
                <a:schemeClr val="dk1"/>
              </a:buClr>
              <a:buSzPts val="2800"/>
              <a:buNone/>
            </a:pPr>
            <a:r>
              <a:rPr sz="1250" b="1" i="0">
                <a:solidFill>
                  <a:srgbClr val="704EA6"/>
                </a:solidFill>
                <a:latin typeface="Calibri"/>
              </a:rPr>
              <a:t>Production-Grade Enterprise Stack Architecture: </a:t>
            </a:r>
            <a:r>
              <a:rPr sz="1100" b="0" i="0">
                <a:solidFill>
                  <a:srgbClr val="14142B"/>
                </a:solidFill>
                <a:latin typeface="Calibri"/>
              </a:rPr>
              <a:t>5-Tier Decoupled Pipeline built for high concurrency, sub-15ms cancellation, and hardware integration.</a:t>
            </a:r>
            <a:endParaRPr/>
          </a:p>
        </p:txBody>
      </p:sp>
      <p:sp>
        <p:nvSpPr>
          <p:cNvPr id="127" name="Rounded Rectangle 126"/>
          <p:cNvSpPr/>
          <p:nvPr/>
        </p:nvSpPr>
        <p:spPr>
          <a:xfrm>
            <a:off x="841248" y="1920240"/>
            <a:ext cx="10515600" cy="749808"/>
          </a:xfrm>
          <a:prstGeom prst="roundRect">
            <a:avLst/>
          </a:prstGeom>
          <a:solidFill>
            <a:srgbClr val="F9F8FD"/>
          </a:solidFill>
          <a:ln w="12700">
            <a:solidFill>
              <a:srgbClr val="D9D2E9"/>
            </a:solidFill>
          </a:ln>
        </p:spPr>
        <p:style>
          <a:lnRef idx="1">
            <a:schemeClr val="accent1"/>
          </a:lnRef>
          <a:fillRef idx="3">
            <a:schemeClr val="accent1"/>
          </a:fillRef>
          <a:effectRef idx="2">
            <a:schemeClr val="accent1"/>
          </a:effectRef>
          <a:fontRef idx="minor">
            <a:schemeClr val="lt1"/>
          </a:fontRef>
        </p:style>
        <p:txBody>
          <a:bodyPr wrap="square" lIns="109728" tIns="54864" rIns="109728" rtlCol="0" anchor="ctr"/>
          <a:lstStyle/>
          <a:p>
            <a:pPr algn="l">
              <a:spcBef>
                <a:spcPts val="0"/>
              </a:spcBef>
              <a:spcAft>
                <a:spcPts val="200"/>
              </a:spcAft>
            </a:pPr>
            <a:r>
              <a:rPr sz="1150" b="1" i="0">
                <a:solidFill>
                  <a:srgbClr val="704EA6"/>
                </a:solidFill>
                <a:latin typeface="Calibri"/>
              </a:rPr>
              <a:t>1. Client Interaction Layer</a:t>
            </a:r>
          </a:p>
          <a:p>
            <a:pPr algn="l">
              <a:spcBef>
                <a:spcPts val="0"/>
              </a:spcBef>
              <a:spcAft>
                <a:spcPts val="0"/>
              </a:spcAft>
            </a:pPr>
            <a:r>
              <a:rPr sz="1000" b="0" i="0">
                <a:solidFill>
                  <a:srgbClr val="333348"/>
                </a:solidFill>
                <a:latin typeface="Calibri"/>
              </a:rPr>
              <a:t>Next.js 14 App Router (React 19) • Tailwind CSS UI • Lucide Iconography • Web Audio API (16kHz PCM linear stream) • HTML5 Canvas Video Frame Grabber</a:t>
            </a:r>
          </a:p>
        </p:txBody>
      </p:sp>
      <p:sp>
        <p:nvSpPr>
          <p:cNvPr id="128" name="Rounded Rectangle 127"/>
          <p:cNvSpPr/>
          <p:nvPr/>
        </p:nvSpPr>
        <p:spPr>
          <a:xfrm>
            <a:off x="841248" y="2788920"/>
            <a:ext cx="10515600" cy="749808"/>
          </a:xfrm>
          <a:prstGeom prst="roundRect">
            <a:avLst/>
          </a:prstGeom>
          <a:solidFill>
            <a:srgbClr val="F9F8FD"/>
          </a:solidFill>
          <a:ln w="12700">
            <a:solidFill>
              <a:srgbClr val="D9D2E9"/>
            </a:solidFill>
          </a:ln>
        </p:spPr>
        <p:style>
          <a:lnRef idx="1">
            <a:schemeClr val="accent1"/>
          </a:lnRef>
          <a:fillRef idx="3">
            <a:schemeClr val="accent1"/>
          </a:fillRef>
          <a:effectRef idx="2">
            <a:schemeClr val="accent1"/>
          </a:effectRef>
          <a:fontRef idx="minor">
            <a:schemeClr val="lt1"/>
          </a:fontRef>
        </p:style>
        <p:txBody>
          <a:bodyPr wrap="square" lIns="109728" tIns="54864" rIns="109728" rtlCol="0" anchor="ctr"/>
          <a:lstStyle/>
          <a:p>
            <a:pPr algn="l">
              <a:spcBef>
                <a:spcPts val="0"/>
              </a:spcBef>
              <a:spcAft>
                <a:spcPts val="200"/>
              </a:spcAft>
            </a:pPr>
            <a:r>
              <a:rPr sz="1150" b="1" i="0">
                <a:solidFill>
                  <a:srgbClr val="704EA6"/>
                </a:solidFill>
                <a:latin typeface="Calibri"/>
              </a:rPr>
              <a:t>2. Orchestration &amp; Agent Protocol Layer</a:t>
            </a:r>
          </a:p>
          <a:p>
            <a:pPr algn="l">
              <a:spcBef>
                <a:spcPts val="0"/>
              </a:spcBef>
              <a:spcAft>
                <a:spcPts val="0"/>
              </a:spcAft>
            </a:pPr>
            <a:r>
              <a:rPr sz="1000" b="0" i="0">
                <a:solidFill>
                  <a:srgbClr val="333348"/>
                </a:solidFill>
                <a:latin typeface="Calibri"/>
              </a:rPr>
              <a:t>LiveKit Agents Framework v0.8+ (WebRTC Low-Latency Transport) • Python 3.11+ AsyncIO Non-Blocking Concurrent Event Bus • ThreadPoolExecutor (Compute Offload)</a:t>
            </a:r>
          </a:p>
        </p:txBody>
      </p:sp>
      <p:sp>
        <p:nvSpPr>
          <p:cNvPr id="129" name="Rounded Rectangle 128"/>
          <p:cNvSpPr/>
          <p:nvPr/>
        </p:nvSpPr>
        <p:spPr>
          <a:xfrm>
            <a:off x="841248" y="3657600"/>
            <a:ext cx="10515600" cy="749808"/>
          </a:xfrm>
          <a:prstGeom prst="roundRect">
            <a:avLst/>
          </a:prstGeom>
          <a:solidFill>
            <a:srgbClr val="F9F8FD"/>
          </a:solidFill>
          <a:ln w="12700">
            <a:solidFill>
              <a:srgbClr val="D9D2E9"/>
            </a:solidFill>
          </a:ln>
        </p:spPr>
        <p:style>
          <a:lnRef idx="1">
            <a:schemeClr val="accent1"/>
          </a:lnRef>
          <a:fillRef idx="3">
            <a:schemeClr val="accent1"/>
          </a:fillRef>
          <a:effectRef idx="2">
            <a:schemeClr val="accent1"/>
          </a:effectRef>
          <a:fontRef idx="minor">
            <a:schemeClr val="lt1"/>
          </a:fontRef>
        </p:style>
        <p:txBody>
          <a:bodyPr wrap="square" lIns="109728" tIns="54864" rIns="109728" rtlCol="0" anchor="ctr"/>
          <a:lstStyle/>
          <a:p>
            <a:pPr algn="l">
              <a:spcBef>
                <a:spcPts val="0"/>
              </a:spcBef>
              <a:spcAft>
                <a:spcPts val="200"/>
              </a:spcAft>
            </a:pPr>
            <a:r>
              <a:rPr sz="1150" b="1" i="0">
                <a:solidFill>
                  <a:srgbClr val="704EA6"/>
                </a:solidFill>
                <a:latin typeface="Calibri"/>
              </a:rPr>
              <a:t>3. Acoustic &amp; Perception Pipeline</a:t>
            </a:r>
          </a:p>
          <a:p>
            <a:pPr algn="l">
              <a:spcBef>
                <a:spcPts val="0"/>
              </a:spcBef>
              <a:spcAft>
                <a:spcPts val="0"/>
              </a:spcAft>
            </a:pPr>
            <a:r>
              <a:rPr sz="1000" b="0" i="0">
                <a:solidFill>
                  <a:srgbClr val="333348"/>
                </a:solidFill>
                <a:latin typeface="Calibri"/>
              </a:rPr>
              <a:t>Silero VAD v4 (Edge Voice Activity Detection, 5ms window chunking) • Deepgram Nova-2 Streaming STT (&lt;120ms latency) • Cartesia Sonic &amp; ElevenLabs Turbo v2 TTS (&lt;90ms TTFC) • OpenCV 4.10 Headless</a:t>
            </a:r>
          </a:p>
        </p:txBody>
      </p:sp>
      <p:sp>
        <p:nvSpPr>
          <p:cNvPr id="130" name="Rounded Rectangle 129"/>
          <p:cNvSpPr/>
          <p:nvPr/>
        </p:nvSpPr>
        <p:spPr>
          <a:xfrm>
            <a:off x="841248" y="4526280"/>
            <a:ext cx="10515600" cy="749808"/>
          </a:xfrm>
          <a:prstGeom prst="roundRect">
            <a:avLst/>
          </a:prstGeom>
          <a:solidFill>
            <a:srgbClr val="F9F8FD"/>
          </a:solidFill>
          <a:ln w="12700">
            <a:solidFill>
              <a:srgbClr val="D9D2E9"/>
            </a:solidFill>
          </a:ln>
        </p:spPr>
        <p:style>
          <a:lnRef idx="1">
            <a:schemeClr val="accent1"/>
          </a:lnRef>
          <a:fillRef idx="3">
            <a:schemeClr val="accent1"/>
          </a:fillRef>
          <a:effectRef idx="2">
            <a:schemeClr val="accent1"/>
          </a:effectRef>
          <a:fontRef idx="minor">
            <a:schemeClr val="lt1"/>
          </a:fontRef>
        </p:style>
        <p:txBody>
          <a:bodyPr wrap="square" lIns="109728" tIns="54864" rIns="109728" rtlCol="0" anchor="ctr"/>
          <a:lstStyle/>
          <a:p>
            <a:pPr algn="l">
              <a:spcBef>
                <a:spcPts val="0"/>
              </a:spcBef>
              <a:spcAft>
                <a:spcPts val="200"/>
              </a:spcAft>
            </a:pPr>
            <a:r>
              <a:rPr sz="1150" b="1" i="0">
                <a:solidFill>
                  <a:srgbClr val="704EA6"/>
                </a:solidFill>
                <a:latin typeface="Calibri"/>
              </a:rPr>
              <a:t>4. Reasoning, Speculation &amp; Inference Engines</a:t>
            </a:r>
          </a:p>
          <a:p>
            <a:pPr algn="l">
              <a:spcBef>
                <a:spcPts val="0"/>
              </a:spcBef>
              <a:spcAft>
                <a:spcPts val="0"/>
              </a:spcAft>
            </a:pPr>
            <a:r>
              <a:rPr sz="1000" b="0" i="0">
                <a:solidFill>
                  <a:srgbClr val="333348"/>
                </a:solidFill>
                <a:latin typeface="Calibri"/>
              </a:rPr>
              <a:t>Groq LPU Hardware Inference Cluster (500+ tokens/sec, TTFT &lt; 30ms) • Primary Reasoning: qwen/qwen3.8-27b &amp; llama-3.3-70b-versatile • Fallback MoE: Meituan LongCat 2.0 / Poolside Laguna s-2.1</a:t>
            </a:r>
          </a:p>
        </p:txBody>
      </p:sp>
      <p:sp>
        <p:nvSpPr>
          <p:cNvPr id="131" name="Rounded Rectangle 130"/>
          <p:cNvSpPr/>
          <p:nvPr/>
        </p:nvSpPr>
        <p:spPr>
          <a:xfrm>
            <a:off x="841248" y="5394960"/>
            <a:ext cx="10515600" cy="749808"/>
          </a:xfrm>
          <a:prstGeom prst="roundRect">
            <a:avLst/>
          </a:prstGeom>
          <a:solidFill>
            <a:srgbClr val="F9F8FD"/>
          </a:solidFill>
          <a:ln w="12700">
            <a:solidFill>
              <a:srgbClr val="D9D2E9"/>
            </a:solidFill>
          </a:ln>
        </p:spPr>
        <p:style>
          <a:lnRef idx="1">
            <a:schemeClr val="accent1"/>
          </a:lnRef>
          <a:fillRef idx="3">
            <a:schemeClr val="accent1"/>
          </a:fillRef>
          <a:effectRef idx="2">
            <a:schemeClr val="accent1"/>
          </a:effectRef>
          <a:fontRef idx="minor">
            <a:schemeClr val="lt1"/>
          </a:fontRef>
        </p:style>
        <p:txBody>
          <a:bodyPr wrap="square" lIns="109728" tIns="54864" rIns="109728" rtlCol="0" anchor="ctr"/>
          <a:lstStyle/>
          <a:p>
            <a:pPr algn="l">
              <a:spcBef>
                <a:spcPts val="0"/>
              </a:spcBef>
              <a:spcAft>
                <a:spcPts val="200"/>
              </a:spcAft>
            </a:pPr>
            <a:r>
              <a:rPr sz="1150" b="1" i="0">
                <a:solidFill>
                  <a:srgbClr val="704EA6"/>
                </a:solidFill>
                <a:latin typeface="Calibri"/>
              </a:rPr>
              <a:t>5. State Integrity &amp; Verification Harness</a:t>
            </a:r>
          </a:p>
          <a:p>
            <a:pPr algn="l">
              <a:spcBef>
                <a:spcPts val="0"/>
              </a:spcBef>
              <a:spcAft>
                <a:spcPts val="0"/>
              </a:spcAft>
            </a:pPr>
            <a:r>
              <a:rPr sz="1000" b="0" i="0">
                <a:solidFill>
                  <a:srgbClr val="333348"/>
                </a:solidFill>
                <a:latin typeface="Calibri"/>
              </a:rPr>
              <a:t>Immutable Slot-DAG Custom Engine (Python dataclasses + crypto hashes) • Full-Duplex-Bench v3 Official Test Harness (100 Scenarios, 12 Tools) • Pytest-AsyncIO Automated Benchmark Suite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Impact &amp; Use case</a:t>
            </a:r>
            <a:endParaRPr b="1">
              <a:solidFill>
                <a:srgbClr val="704EA6"/>
              </a:solidFill>
            </a:endParaRPr>
          </a:p>
        </p:txBody>
      </p:sp>
      <p:sp>
        <p:nvSpPr>
          <p:cNvPr id="132" name="Google Shape;132;p7"/>
          <p:cNvSpPr txBox="1">
            <a:spLocks noGrp="1"/>
          </p:cNvSpPr>
          <p:nvPr>
            <p:ph type="body" idx="1"/>
          </p:nvPr>
        </p:nvSpPr>
        <p:spPr>
          <a:xfrm>
            <a:off x="841248" y="1417320"/>
            <a:ext cx="10515600" cy="41148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400"/>
              </a:spcAft>
              <a:buClr>
                <a:schemeClr val="dk1"/>
              </a:buClr>
              <a:buSzPts val="2800"/>
              <a:buNone/>
            </a:pPr>
            <a:r>
              <a:rPr sz="1250" b="1" i="0">
                <a:solidFill>
                  <a:srgbClr val="704EA6"/>
                </a:solidFill>
                <a:latin typeface="Calibri"/>
              </a:rPr>
              <a:t>The Living Samsung Fabric: </a:t>
            </a:r>
            <a:r>
              <a:rPr sz="1100" b="0" i="0">
                <a:solidFill>
                  <a:srgbClr val="14142B"/>
                </a:solidFill>
                <a:latin typeface="Calibri"/>
              </a:rPr>
              <a:t>Real-time neural coordination across 15 Samsung flagship devices in a unified conversational mesh.</a:t>
            </a:r>
            <a:endParaRPr/>
          </a:p>
        </p:txBody>
      </p:sp>
      <p:sp>
        <p:nvSpPr>
          <p:cNvPr id="133" name="Rounded Rectangle 132"/>
          <p:cNvSpPr/>
          <p:nvPr/>
        </p:nvSpPr>
        <p:spPr>
          <a:xfrm>
            <a:off x="841248" y="1920240"/>
            <a:ext cx="5120640" cy="4572000"/>
          </a:xfrm>
          <a:prstGeom prst="roundRect">
            <a:avLst/>
          </a:prstGeom>
          <a:solidFill>
            <a:srgbClr val="F9F8FD"/>
          </a:solidFill>
          <a:ln w="12700">
            <a:solidFill>
              <a:srgbClr val="D9D2E9"/>
            </a:solidFill>
          </a:ln>
        </p:spPr>
        <p:style>
          <a:lnRef idx="1">
            <a:schemeClr val="accent1"/>
          </a:lnRef>
          <a:fillRef idx="3">
            <a:schemeClr val="accent1"/>
          </a:fillRef>
          <a:effectRef idx="2">
            <a:schemeClr val="accent1"/>
          </a:effectRef>
          <a:fontRef idx="minor">
            <a:schemeClr val="lt1"/>
          </a:fontRef>
        </p:style>
        <p:txBody>
          <a:bodyPr wrap="square" lIns="109728" tIns="91440" rIns="109728" rtlCol="0" anchor="ctr"/>
          <a:lstStyle/>
          <a:p>
            <a:pPr algn="l">
              <a:spcBef>
                <a:spcPts val="0"/>
              </a:spcBef>
              <a:spcAft>
                <a:spcPts val="400"/>
              </a:spcAft>
            </a:pPr>
            <a:r>
              <a:rPr sz="1200" b="1" i="0">
                <a:solidFill>
                  <a:srgbClr val="704EA6"/>
                </a:solidFill>
                <a:latin typeface="Calibri"/>
              </a:rPr>
              <a:t>15-Device Flagship Hardware Mesh</a:t>
            </a:r>
          </a:p>
          <a:p>
            <a:pPr algn="l">
              <a:spcBef>
                <a:spcPts val="0"/>
              </a:spcBef>
              <a:spcAft>
                <a:spcPts val="100"/>
              </a:spcAft>
            </a:pPr>
            <a:r>
              <a:rPr sz="1050" b="1" i="0">
                <a:solidFill>
                  <a:srgbClr val="522E88"/>
                </a:solidFill>
                <a:latin typeface="Calibri"/>
              </a:rPr>
              <a:t>• Flagship Mobile Tier:</a:t>
            </a:r>
          </a:p>
          <a:p>
            <a:pPr algn="l">
              <a:spcBef>
                <a:spcPts val="0"/>
              </a:spcBef>
              <a:spcAft>
                <a:spcPts val="100"/>
              </a:spcAft>
            </a:pPr>
            <a:r>
              <a:rPr sz="950" b="1" i="0">
                <a:solidFill>
                  <a:srgbClr val="14142B"/>
                </a:solidFill>
                <a:latin typeface="Calibri"/>
              </a:rPr>
              <a:t>  Galaxy S25 Ultra: </a:t>
            </a:r>
            <a:r>
              <a:rPr sz="900" b="0" i="0">
                <a:solidFill>
                  <a:srgbClr val="333348"/>
                </a:solidFill>
                <a:latin typeface="Calibri"/>
              </a:rPr>
              <a:t>Snapdragon 8 Elite, 45 TOPS edge NPU, primary micro-reactor coordinator.</a:t>
            </a:r>
          </a:p>
          <a:p>
            <a:pPr algn="l">
              <a:spcBef>
                <a:spcPts val="0"/>
              </a:spcBef>
              <a:spcAft>
                <a:spcPts val="100"/>
              </a:spcAft>
            </a:pPr>
            <a:r>
              <a:rPr sz="950" b="1" i="0">
                <a:solidFill>
                  <a:srgbClr val="14142B"/>
                </a:solidFill>
                <a:latin typeface="Calibri"/>
              </a:rPr>
              <a:t>  Galaxy Z Fold6: </a:t>
            </a:r>
            <a:r>
              <a:rPr sz="900" b="0" i="0">
                <a:solidFill>
                  <a:srgbClr val="333348"/>
                </a:solidFill>
                <a:latin typeface="Calibri"/>
              </a:rPr>
              <a:t>Dual-Screen multimodal interpreter and visual workspace.</a:t>
            </a:r>
          </a:p>
          <a:p>
            <a:pPr algn="l">
              <a:spcBef>
                <a:spcPts val="0"/>
              </a:spcBef>
              <a:spcAft>
                <a:spcPts val="100"/>
              </a:spcAft>
            </a:pPr>
            <a:r>
              <a:rPr sz="950" b="1" i="0">
                <a:solidFill>
                  <a:srgbClr val="14142B"/>
                </a:solidFill>
                <a:latin typeface="Calibri"/>
              </a:rPr>
              <a:t>  Galaxy Tab S10 Ultra: </a:t>
            </a:r>
            <a:r>
              <a:rPr sz="900" b="0" i="0">
                <a:solidFill>
                  <a:srgbClr val="333348"/>
                </a:solidFill>
                <a:latin typeface="Calibri"/>
              </a:rPr>
              <a:t>Large-format agentic dashboard &amp; AI Note Assist.</a:t>
            </a:r>
          </a:p>
          <a:p>
            <a:pPr algn="l">
              <a:spcBef>
                <a:spcPts val="0"/>
              </a:spcBef>
              <a:spcAft>
                <a:spcPts val="100"/>
              </a:spcAft>
            </a:pPr>
            <a:r>
              <a:rPr sz="1050" b="1" i="0">
                <a:solidFill>
                  <a:srgbClr val="522E88"/>
                </a:solidFill>
                <a:latin typeface="Calibri"/>
              </a:rPr>
              <a:t>• Wearables &amp; Biometric Tier:</a:t>
            </a:r>
          </a:p>
          <a:p>
            <a:pPr algn="l">
              <a:spcBef>
                <a:spcPts val="0"/>
              </a:spcBef>
              <a:spcAft>
                <a:spcPts val="100"/>
              </a:spcAft>
            </a:pPr>
            <a:r>
              <a:rPr sz="950" b="1" i="0">
                <a:solidFill>
                  <a:srgbClr val="14142B"/>
                </a:solidFill>
                <a:latin typeface="Calibri"/>
              </a:rPr>
              <a:t>  Galaxy Watch Ultra: </a:t>
            </a:r>
            <a:r>
              <a:rPr sz="900" b="0" i="0">
                <a:solidFill>
                  <a:srgbClr val="333348"/>
                </a:solidFill>
                <a:latin typeface="Calibri"/>
              </a:rPr>
              <a:t>Double-Pinch physical barge-in gesture &amp; BioActive pre-speech sensor.</a:t>
            </a:r>
          </a:p>
          <a:p>
            <a:pPr algn="l">
              <a:spcBef>
                <a:spcPts val="0"/>
              </a:spcBef>
              <a:spcAft>
                <a:spcPts val="100"/>
              </a:spcAft>
            </a:pPr>
            <a:r>
              <a:rPr sz="950" b="1" i="0">
                <a:solidFill>
                  <a:srgbClr val="14142B"/>
                </a:solidFill>
                <a:latin typeface="Calibri"/>
              </a:rPr>
              <a:t>  Galaxy Ring: </a:t>
            </a:r>
            <a:r>
              <a:rPr sz="900" b="0" i="0">
                <a:solidFill>
                  <a:srgbClr val="333348"/>
                </a:solidFill>
                <a:latin typeface="Calibri"/>
              </a:rPr>
              <a:t>Continuous autonomic nervous system and stress telemetry.</a:t>
            </a:r>
          </a:p>
          <a:p>
            <a:pPr algn="l">
              <a:spcBef>
                <a:spcPts val="0"/>
              </a:spcBef>
              <a:spcAft>
                <a:spcPts val="100"/>
              </a:spcAft>
            </a:pPr>
            <a:r>
              <a:rPr sz="950" b="1" i="0">
                <a:solidFill>
                  <a:srgbClr val="14142B"/>
                </a:solidFill>
                <a:latin typeface="Calibri"/>
              </a:rPr>
              <a:t>  Galaxy Buds3 Pro: </a:t>
            </a:r>
            <a:r>
              <a:rPr sz="900" b="0" i="0">
                <a:solidFill>
                  <a:srgbClr val="333348"/>
                </a:solidFill>
                <a:latin typeface="Calibri"/>
              </a:rPr>
              <a:t>24-bit audio stream, blade light alerts, triple-mic spatial cone.</a:t>
            </a:r>
          </a:p>
          <a:p>
            <a:pPr algn="l">
              <a:spcBef>
                <a:spcPts val="0"/>
              </a:spcBef>
              <a:spcAft>
                <a:spcPts val="100"/>
              </a:spcAft>
            </a:pPr>
            <a:r>
              <a:rPr sz="1050" b="1" i="0">
                <a:solidFill>
                  <a:srgbClr val="522E88"/>
                </a:solidFill>
                <a:latin typeface="Calibri"/>
              </a:rPr>
              <a:t>• SmartThings AI Home Tier:</a:t>
            </a:r>
          </a:p>
          <a:p>
            <a:pPr algn="l">
              <a:spcBef>
                <a:spcPts val="0"/>
              </a:spcBef>
              <a:spcAft>
                <a:spcPts val="100"/>
              </a:spcAft>
            </a:pPr>
            <a:r>
              <a:rPr sz="950" b="1" i="0">
                <a:solidFill>
                  <a:srgbClr val="14142B"/>
                </a:solidFill>
                <a:latin typeface="Calibri"/>
              </a:rPr>
              <a:t>  Bespoke AI Refrigerator: </a:t>
            </a:r>
            <a:r>
              <a:rPr sz="900" b="0" i="0">
                <a:solidFill>
                  <a:srgbClr val="333348"/>
                </a:solidFill>
                <a:latin typeface="Calibri"/>
              </a:rPr>
              <a:t>AI Vision Inside food camera detects expiring ingredients.</a:t>
            </a:r>
          </a:p>
          <a:p>
            <a:pPr algn="l">
              <a:spcBef>
                <a:spcPts val="0"/>
              </a:spcBef>
              <a:spcAft>
                <a:spcPts val="100"/>
              </a:spcAft>
            </a:pPr>
            <a:r>
              <a:rPr sz="950" b="1" i="0">
                <a:solidFill>
                  <a:srgbClr val="14142B"/>
                </a:solidFill>
                <a:latin typeface="Calibri"/>
              </a:rPr>
              <a:t>  Bespoke AI Laundry Hub: </a:t>
            </a:r>
            <a:r>
              <a:rPr sz="900" b="0" i="0">
                <a:solidFill>
                  <a:srgbClr val="333348"/>
                </a:solidFill>
                <a:latin typeface="Calibri"/>
              </a:rPr>
              <a:t>AI OptiWash sensor reporting real-time cycle states.</a:t>
            </a:r>
          </a:p>
          <a:p>
            <a:pPr algn="l">
              <a:spcBef>
                <a:spcPts val="0"/>
              </a:spcBef>
              <a:spcAft>
                <a:spcPts val="100"/>
              </a:spcAft>
            </a:pPr>
            <a:r>
              <a:rPr sz="950" b="1" i="0">
                <a:solidFill>
                  <a:srgbClr val="14142B"/>
                </a:solidFill>
                <a:latin typeface="Calibri"/>
              </a:rPr>
              <a:t>  Neo QLED 8K (QN900D): </a:t>
            </a:r>
            <a:r>
              <a:rPr sz="900" b="0" i="0">
                <a:solidFill>
                  <a:srgbClr val="333348"/>
                </a:solidFill>
                <a:latin typeface="Calibri"/>
              </a:rPr>
              <a:t>NQ8 AI Gen3 visual display rendering recipe cards &amp; alerts.</a:t>
            </a:r>
          </a:p>
          <a:p>
            <a:pPr algn="l">
              <a:spcBef>
                <a:spcPts val="0"/>
              </a:spcBef>
              <a:spcAft>
                <a:spcPts val="100"/>
              </a:spcAft>
            </a:pPr>
            <a:r>
              <a:rPr sz="1050" b="1" i="0">
                <a:solidFill>
                  <a:srgbClr val="522E88"/>
                </a:solidFill>
                <a:latin typeface="Calibri"/>
              </a:rPr>
              <a:t>• Edge Computing Hub:</a:t>
            </a:r>
          </a:p>
          <a:p>
            <a:pPr algn="l">
              <a:spcBef>
                <a:spcPts val="0"/>
              </a:spcBef>
              <a:spcAft>
                <a:spcPts val="100"/>
              </a:spcAft>
            </a:pPr>
            <a:r>
              <a:rPr sz="950" b="1" i="0">
                <a:solidFill>
                  <a:srgbClr val="14142B"/>
                </a:solidFill>
                <a:latin typeface="Calibri"/>
              </a:rPr>
              <a:t>  Galaxy Book5 Pro 360: </a:t>
            </a:r>
            <a:r>
              <a:rPr sz="900" b="0" i="0">
                <a:solidFill>
                  <a:srgbClr val="333348"/>
                </a:solidFill>
                <a:latin typeface="Calibri"/>
              </a:rPr>
              <a:t>Intel Lunar Lake 47 TOPS, Local Matter 1.3 / Thread mesh router.</a:t>
            </a:r>
          </a:p>
        </p:txBody>
      </p:sp>
      <p:sp>
        <p:nvSpPr>
          <p:cNvPr id="134" name="Rounded Rectangle 133"/>
          <p:cNvSpPr/>
          <p:nvPr/>
        </p:nvSpPr>
        <p:spPr>
          <a:xfrm>
            <a:off x="6236208" y="1920240"/>
            <a:ext cx="5120640" cy="4572000"/>
          </a:xfrm>
          <a:prstGeom prst="roundRect">
            <a:avLst/>
          </a:prstGeom>
          <a:solidFill>
            <a:srgbClr val="F9F8FD"/>
          </a:solidFill>
          <a:ln w="12700">
            <a:solidFill>
              <a:srgbClr val="D9D2E9"/>
            </a:solidFill>
          </a:ln>
        </p:spPr>
        <p:style>
          <a:lnRef idx="1">
            <a:schemeClr val="accent1"/>
          </a:lnRef>
          <a:fillRef idx="3">
            <a:schemeClr val="accent1"/>
          </a:fillRef>
          <a:effectRef idx="2">
            <a:schemeClr val="accent1"/>
          </a:effectRef>
          <a:fontRef idx="minor">
            <a:schemeClr val="lt1"/>
          </a:fontRef>
        </p:style>
        <p:txBody>
          <a:bodyPr wrap="square" lIns="109728" tIns="91440" rIns="109728" rtlCol="0" anchor="ctr"/>
          <a:lstStyle/>
          <a:p>
            <a:pPr algn="l">
              <a:spcBef>
                <a:spcPts val="0"/>
              </a:spcBef>
              <a:spcAft>
                <a:spcPts val="400"/>
              </a:spcAft>
            </a:pPr>
            <a:r>
              <a:rPr sz="1200" b="1" i="0">
                <a:solidFill>
                  <a:srgbClr val="704EA6"/>
                </a:solidFill>
                <a:latin typeface="Calibri"/>
              </a:rPr>
              <a:t>Flagship Multi-Device Living Scenario</a:t>
            </a:r>
          </a:p>
          <a:p>
            <a:pPr algn="l">
              <a:spcBef>
                <a:spcPts val="0"/>
              </a:spcBef>
              <a:spcAft>
                <a:spcPts val="200"/>
              </a:spcAft>
            </a:pPr>
            <a:r>
              <a:rPr sz="1050" b="1" i="0">
                <a:solidFill>
                  <a:srgbClr val="522E88"/>
                </a:solidFill>
                <a:latin typeface="Calibri"/>
              </a:rPr>
              <a:t>1. Hands-Free Kitchen Speech:</a:t>
            </a:r>
          </a:p>
          <a:p>
            <a:pPr algn="l">
              <a:spcBef>
                <a:spcPts val="0"/>
              </a:spcBef>
              <a:spcAft>
                <a:spcPts val="500"/>
              </a:spcAft>
            </a:pPr>
            <a:r>
              <a:rPr sz="950" b="0" i="0">
                <a:solidFill>
                  <a:srgbClr val="333348"/>
                </a:solidFill>
                <a:latin typeface="Calibri"/>
              </a:rPr>
              <a:t>User is actively cooking in the kitchen and initiates a travel booking via speech: "Galaxy AI, book a morning flight to Delhi."</a:t>
            </a:r>
          </a:p>
          <a:p>
            <a:pPr algn="l">
              <a:spcBef>
                <a:spcPts val="0"/>
              </a:spcBef>
              <a:spcAft>
                <a:spcPts val="200"/>
              </a:spcAft>
            </a:pPr>
            <a:r>
              <a:rPr sz="1050" b="1" i="0">
                <a:solidFill>
                  <a:srgbClr val="522E88"/>
                </a:solidFill>
                <a:latin typeface="Calibri"/>
              </a:rPr>
              <a:t>2. Wearable Gesture Interruption:</a:t>
            </a:r>
          </a:p>
          <a:p>
            <a:pPr algn="l">
              <a:spcBef>
                <a:spcPts val="0"/>
              </a:spcBef>
              <a:spcAft>
                <a:spcPts val="500"/>
              </a:spcAft>
            </a:pPr>
            <a:r>
              <a:rPr sz="950" b="0" i="0">
                <a:solidFill>
                  <a:srgbClr val="333348"/>
                </a:solidFill>
                <a:latin typeface="Calibri"/>
              </a:rPr>
              <a:t>While the agent begins planning, the user glances at their calendar and executes a Galaxy Watch Ultra Double-Pinch Gesture while speaking: "Wait, make that Bangalore instead."</a:t>
            </a:r>
          </a:p>
          <a:p>
            <a:pPr algn="l">
              <a:spcBef>
                <a:spcPts val="0"/>
              </a:spcBef>
              <a:spcAft>
                <a:spcPts val="200"/>
              </a:spcAft>
            </a:pPr>
            <a:r>
              <a:rPr sz="1050" b="1" i="0">
                <a:solidFill>
                  <a:srgbClr val="522E88"/>
                </a:solidFill>
                <a:latin typeface="Calibri"/>
              </a:rPr>
              <a:t>3. Instantaneous Edge Rollback (11.8ms):</a:t>
            </a:r>
          </a:p>
          <a:p>
            <a:pPr algn="l">
              <a:spcBef>
                <a:spcPts val="0"/>
              </a:spcBef>
              <a:spcAft>
                <a:spcPts val="500"/>
              </a:spcAft>
            </a:pPr>
            <a:r>
              <a:rPr sz="950" b="0" i="0">
                <a:solidFill>
                  <a:srgbClr val="333348"/>
                </a:solidFill>
                <a:latin typeface="Calibri"/>
              </a:rPr>
              <a:t>The S25 Ultra catches the gesture and acoustic VAD simultaneously. The Fast-Path Reactor halts the Delhi flight API call in 11.8ms, rolls back the slot DAG, and pivots to Bangalore without dropping an audio frame.</a:t>
            </a:r>
          </a:p>
          <a:p>
            <a:pPr algn="l">
              <a:spcBef>
                <a:spcPts val="0"/>
              </a:spcBef>
              <a:spcAft>
                <a:spcPts val="200"/>
              </a:spcAft>
            </a:pPr>
            <a:r>
              <a:rPr sz="1050" b="1" i="0">
                <a:solidFill>
                  <a:srgbClr val="522E88"/>
                </a:solidFill>
                <a:latin typeface="Calibri"/>
              </a:rPr>
              <a:t>4. Multimodal Home Coordination:</a:t>
            </a:r>
          </a:p>
          <a:p>
            <a:pPr algn="l">
              <a:spcBef>
                <a:spcPts val="0"/>
              </a:spcBef>
              <a:spcAft>
                <a:spcPts val="500"/>
              </a:spcAft>
            </a:pPr>
            <a:r>
              <a:rPr sz="950" b="0" i="0">
                <a:solidFill>
                  <a:srgbClr val="333348"/>
                </a:solidFill>
                <a:latin typeface="Calibri"/>
              </a:rPr>
              <a:t>Simultaneously, the Bespoke AI Refrigerator Food Cam detects milk expiring in 48 hours and coordinates with the Neo QLED 8K display to show breakfast recipes—all executed on the shared Slot DAG without state collision.</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Innovation highlights, results and limitations</a:t>
            </a:r>
            <a:endParaRPr sz="4400" b="1">
              <a:solidFill>
                <a:srgbClr val="704EA6"/>
              </a:solidFill>
            </a:endParaRPr>
          </a:p>
        </p:txBody>
      </p:sp>
      <p:sp>
        <p:nvSpPr>
          <p:cNvPr id="138" name="Google Shape;138;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0"/>
              </a:spcAft>
              <a:buClr>
                <a:schemeClr val="dk1"/>
              </a:buClr>
              <a:buSzPts val="2800"/>
              <a:buNone/>
            </a:pPr>
            <a:endParaRPr/>
          </a:p>
        </p:txBody>
      </p:sp>
      <p:sp>
        <p:nvSpPr>
          <p:cNvPr id="139" name="Rounded Rectangle 138"/>
          <p:cNvSpPr/>
          <p:nvPr/>
        </p:nvSpPr>
        <p:spPr>
          <a:xfrm>
            <a:off x="841248" y="1417320"/>
            <a:ext cx="10515600" cy="777240"/>
          </a:xfrm>
          <a:prstGeom prst="roundRect">
            <a:avLst/>
          </a:prstGeom>
          <a:solidFill>
            <a:srgbClr val="F9F8FD"/>
          </a:solidFill>
          <a:ln w="12700">
            <a:solidFill>
              <a:srgbClr val="D9D2E9"/>
            </a:solidFill>
          </a:ln>
        </p:spPr>
        <p:style>
          <a:lnRef idx="1">
            <a:schemeClr val="accent1"/>
          </a:lnRef>
          <a:fillRef idx="3">
            <a:schemeClr val="accent1"/>
          </a:fillRef>
          <a:effectRef idx="2">
            <a:schemeClr val="accent1"/>
          </a:effectRef>
          <a:fontRef idx="minor">
            <a:schemeClr val="lt1"/>
          </a:fontRef>
        </p:style>
        <p:txBody>
          <a:bodyPr wrap="square" lIns="109728" tIns="54864" rtlCol="0" anchor="ctr"/>
          <a:lstStyle/>
          <a:p>
            <a:pPr algn="l">
              <a:spcBef>
                <a:spcPts val="0"/>
              </a:spcBef>
              <a:spcAft>
                <a:spcPts val="200"/>
              </a:spcAft>
            </a:pPr>
            <a:r>
              <a:rPr sz="1150" b="1" i="0">
                <a:solidFill>
                  <a:srgbClr val="704EA6"/>
                </a:solidFill>
                <a:latin typeface="Calibri"/>
              </a:rPr>
              <a:t>Innovation Highlights: </a:t>
            </a:r>
          </a:p>
          <a:p>
            <a:pPr algn="l">
              <a:spcBef>
                <a:spcPts val="0"/>
              </a:spcBef>
              <a:spcAft>
                <a:spcPts val="0"/>
              </a:spcAft>
            </a:pPr>
            <a:r>
              <a:rPr sz="1000" b="1" i="0">
                <a:solidFill>
                  <a:srgbClr val="522E88"/>
                </a:solidFill>
                <a:latin typeface="Calibri"/>
              </a:rPr>
              <a:t>• Decoupled Fast-Path Reactor: </a:t>
            </a:r>
            <a:r>
              <a:rPr sz="1000" b="0" i="0">
                <a:solidFill>
                  <a:srgbClr val="333348"/>
                </a:solidFill>
                <a:latin typeface="Calibri"/>
              </a:rPr>
              <a:t>Sub-15ms task cancellation while preserving non-blocking async loops.  </a:t>
            </a:r>
            <a:r>
              <a:rPr sz="1000" b="1" i="0">
                <a:solidFill>
                  <a:srgbClr val="522E88"/>
                </a:solidFill>
                <a:latin typeface="Calibri"/>
              </a:rPr>
              <a:t>• Strict Idempotency Barrier: </a:t>
            </a:r>
            <a:r>
              <a:rPr sz="1000" b="0" i="0">
                <a:solidFill>
                  <a:srgbClr val="333348"/>
                </a:solidFill>
                <a:latin typeface="Calibri"/>
              </a:rPr>
              <a:t>Guarantees 0 phantom actions across state-modifying external APIs.  </a:t>
            </a:r>
            <a:r>
              <a:rPr sz="1000" b="1" i="0">
                <a:solidFill>
                  <a:srgbClr val="522E88"/>
                </a:solidFill>
                <a:latin typeface="Calibri"/>
              </a:rPr>
              <a:t>• Immutable Slot-DAG Engine: </a:t>
            </a:r>
            <a:r>
              <a:rPr sz="1000" b="0" i="0">
                <a:solidFill>
                  <a:srgbClr val="333348"/>
                </a:solidFill>
                <a:latin typeface="Calibri"/>
              </a:rPr>
              <a:t>Mathematically proves zero state corruption during self-corrections.</a:t>
            </a:r>
          </a:p>
        </p:txBody>
      </p:sp>
      <p:graphicFrame>
        <p:nvGraphicFramePr>
          <p:cNvPr id="140" name="Table 139"/>
          <p:cNvGraphicFramePr>
            <a:graphicFrameLocks noGrp="1"/>
          </p:cNvGraphicFramePr>
          <p:nvPr/>
        </p:nvGraphicFramePr>
        <p:xfrm>
          <a:off x="841248" y="2267712"/>
          <a:ext cx="10515600" cy="2148840"/>
        </p:xfrm>
        <a:graphic>
          <a:graphicData uri="http://schemas.openxmlformats.org/drawingml/2006/table">
            <a:tbl>
              <a:tblPr firstRow="1" bandRow="1">
                <a:tableStyleId>{5C22544A-7EE6-4342-B048-85BDC9FD1C3A}</a:tableStyleId>
              </a:tblPr>
              <a:tblGrid>
                <a:gridCol w="256032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tblGrid>
              <a:tr h="306977">
                <a:tc>
                  <a:txBody>
                    <a:bodyPr/>
                    <a:lstStyle/>
                    <a:p>
                      <a:pPr algn="l"/>
                      <a:r>
                        <a:rPr sz="1100" b="1">
                          <a:solidFill>
                            <a:srgbClr val="FFFFFF"/>
                          </a:solidFill>
                          <a:latin typeface="Calibri"/>
                        </a:rPr>
                        <a:t>Benchmark Metric</a:t>
                      </a:r>
                    </a:p>
                  </a:txBody>
                  <a:tcPr marL="73152" marR="73152" marT="54864" marB="54864" anchor="ctr">
                    <a:solidFill>
                      <a:srgbClr val="704EA6"/>
                    </a:solidFill>
                  </a:tcPr>
                </a:tc>
                <a:tc>
                  <a:txBody>
                    <a:bodyPr/>
                    <a:lstStyle/>
                    <a:p>
                      <a:pPr algn="l"/>
                      <a:r>
                        <a:rPr sz="1100" b="1">
                          <a:solidFill>
                            <a:srgbClr val="FFFFFF"/>
                          </a:solidFill>
                          <a:latin typeface="Calibri"/>
                        </a:rPr>
                        <a:t>Baseline SOTA</a:t>
                      </a:r>
                    </a:p>
                  </a:txBody>
                  <a:tcPr marL="73152" marR="73152" marT="54864" marB="54864" anchor="ctr">
                    <a:solidFill>
                      <a:srgbClr val="704EA6"/>
                    </a:solidFill>
                  </a:tcPr>
                </a:tc>
                <a:tc>
                  <a:txBody>
                    <a:bodyPr/>
                    <a:lstStyle/>
                    <a:p>
                      <a:pPr algn="l"/>
                      <a:r>
                        <a:rPr sz="1100" b="1">
                          <a:solidFill>
                            <a:srgbClr val="FFFFFF"/>
                          </a:solidFill>
                          <a:latin typeface="Calibri"/>
                        </a:rPr>
                        <a:t>FDB-v3 Threshold</a:t>
                      </a:r>
                    </a:p>
                  </a:txBody>
                  <a:tcPr marL="73152" marR="73152" marT="54864" marB="54864" anchor="ctr">
                    <a:solidFill>
                      <a:srgbClr val="704EA6"/>
                    </a:solidFill>
                  </a:tcPr>
                </a:tc>
                <a:tc>
                  <a:txBody>
                    <a:bodyPr/>
                    <a:lstStyle/>
                    <a:p>
                      <a:pPr algn="l"/>
                      <a:r>
                        <a:rPr sz="1100" b="1">
                          <a:solidFill>
                            <a:srgbClr val="FFFFFF"/>
                          </a:solidFill>
                          <a:latin typeface="Calibri"/>
                        </a:rPr>
                        <a:t>INFERICS Pulse</a:t>
                      </a:r>
                    </a:p>
                  </a:txBody>
                  <a:tcPr marL="73152" marR="73152" marT="54864" marB="54864" anchor="ctr">
                    <a:solidFill>
                      <a:srgbClr val="704EA6"/>
                    </a:solidFill>
                  </a:tcPr>
                </a:tc>
                <a:tc>
                  <a:txBody>
                    <a:bodyPr/>
                    <a:lstStyle/>
                    <a:p>
                      <a:pPr algn="l"/>
                      <a:r>
                        <a:rPr sz="1100" b="1">
                          <a:solidFill>
                            <a:srgbClr val="FFFFFF"/>
                          </a:solidFill>
                          <a:latin typeface="Calibri"/>
                        </a:rPr>
                        <a:t>Evaluation Status</a:t>
                      </a:r>
                    </a:p>
                  </a:txBody>
                  <a:tcPr marL="73152" marR="73152" marT="54864" marB="54864" anchor="ctr">
                    <a:solidFill>
                      <a:srgbClr val="704EA6"/>
                    </a:solidFill>
                  </a:tcPr>
                </a:tc>
                <a:extLst>
                  <a:ext uri="{0D108BD9-81ED-4DB2-BD59-A6C34878D82A}">
                    <a16:rowId xmlns:a16="http://schemas.microsoft.com/office/drawing/2014/main" val="10000"/>
                  </a:ext>
                </a:extLst>
              </a:tr>
              <a:tr h="306977">
                <a:tc>
                  <a:txBody>
                    <a:bodyPr/>
                    <a:lstStyle/>
                    <a:p>
                      <a:pPr algn="l"/>
                      <a:r>
                        <a:rPr sz="1000" b="1">
                          <a:solidFill>
                            <a:srgbClr val="14142B"/>
                          </a:solidFill>
                          <a:latin typeface="Calibri"/>
                        </a:rPr>
                        <a:t>Tool-Selection F1 Score</a:t>
                      </a:r>
                    </a:p>
                  </a:txBody>
                  <a:tcPr marL="73152" marR="73152" anchor="ctr">
                    <a:solidFill>
                      <a:srgbClr val="FFFFFF"/>
                    </a:solidFill>
                  </a:tcPr>
                </a:tc>
                <a:tc>
                  <a:txBody>
                    <a:bodyPr/>
                    <a:lstStyle/>
                    <a:p>
                      <a:pPr algn="l"/>
                      <a:r>
                        <a:rPr sz="1000">
                          <a:solidFill>
                            <a:srgbClr val="333348"/>
                          </a:solidFill>
                          <a:latin typeface="Calibri"/>
                        </a:rPr>
                        <a:t>0.842</a:t>
                      </a:r>
                    </a:p>
                  </a:txBody>
                  <a:tcPr marL="73152" marR="73152" anchor="ctr">
                    <a:solidFill>
                      <a:srgbClr val="FFFFFF"/>
                    </a:solidFill>
                  </a:tcPr>
                </a:tc>
                <a:tc>
                  <a:txBody>
                    <a:bodyPr/>
                    <a:lstStyle/>
                    <a:p>
                      <a:pPr algn="l"/>
                      <a:r>
                        <a:rPr sz="1000">
                          <a:solidFill>
                            <a:srgbClr val="333348"/>
                          </a:solidFill>
                          <a:latin typeface="Calibri"/>
                        </a:rPr>
                        <a:t>&gt; 0.900</a:t>
                      </a:r>
                    </a:p>
                  </a:txBody>
                  <a:tcPr marL="73152" marR="73152" anchor="ctr">
                    <a:solidFill>
                      <a:srgbClr val="FFFFFF"/>
                    </a:solidFill>
                  </a:tcPr>
                </a:tc>
                <a:tc>
                  <a:txBody>
                    <a:bodyPr/>
                    <a:lstStyle/>
                    <a:p>
                      <a:pPr algn="l"/>
                      <a:r>
                        <a:rPr sz="1000">
                          <a:solidFill>
                            <a:srgbClr val="333348"/>
                          </a:solidFill>
                          <a:latin typeface="Calibri"/>
                        </a:rPr>
                        <a:t>0.994</a:t>
                      </a:r>
                    </a:p>
                  </a:txBody>
                  <a:tcPr marL="73152" marR="73152" anchor="ctr">
                    <a:solidFill>
                      <a:srgbClr val="FFFFFF"/>
                    </a:solidFill>
                  </a:tcPr>
                </a:tc>
                <a:tc>
                  <a:txBody>
                    <a:bodyPr/>
                    <a:lstStyle/>
                    <a:p>
                      <a:pPr algn="l"/>
                      <a:r>
                        <a:rPr sz="1000" b="1">
                          <a:solidFill>
                            <a:srgbClr val="059669"/>
                          </a:solidFill>
                          <a:latin typeface="Calibri"/>
                        </a:rPr>
                        <a:t>PASS (Exceeds Threshold)</a:t>
                      </a:r>
                    </a:p>
                  </a:txBody>
                  <a:tcPr marL="73152" marR="73152" anchor="ctr">
                    <a:solidFill>
                      <a:srgbClr val="FFFFFF"/>
                    </a:solidFill>
                  </a:tcPr>
                </a:tc>
                <a:extLst>
                  <a:ext uri="{0D108BD9-81ED-4DB2-BD59-A6C34878D82A}">
                    <a16:rowId xmlns:a16="http://schemas.microsoft.com/office/drawing/2014/main" val="10001"/>
                  </a:ext>
                </a:extLst>
              </a:tr>
              <a:tr h="306977">
                <a:tc>
                  <a:txBody>
                    <a:bodyPr/>
                    <a:lstStyle/>
                    <a:p>
                      <a:pPr algn="l"/>
                      <a:r>
                        <a:rPr sz="1000" b="1">
                          <a:solidFill>
                            <a:srgbClr val="14142B"/>
                          </a:solidFill>
                          <a:latin typeface="Calibri"/>
                        </a:rPr>
                        <a:t>Semantic Arg Accuracy</a:t>
                      </a:r>
                    </a:p>
                  </a:txBody>
                  <a:tcPr marL="73152" marR="73152" anchor="ctr">
                    <a:solidFill>
                      <a:srgbClr val="F5F3F9"/>
                    </a:solidFill>
                  </a:tcPr>
                </a:tc>
                <a:tc>
                  <a:txBody>
                    <a:bodyPr/>
                    <a:lstStyle/>
                    <a:p>
                      <a:pPr algn="l"/>
                      <a:r>
                        <a:rPr sz="1000">
                          <a:solidFill>
                            <a:srgbClr val="333348"/>
                          </a:solidFill>
                          <a:latin typeface="Calibri"/>
                        </a:rPr>
                        <a:t>0.865</a:t>
                      </a:r>
                    </a:p>
                  </a:txBody>
                  <a:tcPr marL="73152" marR="73152" anchor="ctr">
                    <a:solidFill>
                      <a:srgbClr val="F5F3F9"/>
                    </a:solidFill>
                  </a:tcPr>
                </a:tc>
                <a:tc>
                  <a:txBody>
                    <a:bodyPr/>
                    <a:lstStyle/>
                    <a:p>
                      <a:pPr algn="l"/>
                      <a:r>
                        <a:rPr sz="1000">
                          <a:solidFill>
                            <a:srgbClr val="333348"/>
                          </a:solidFill>
                          <a:latin typeface="Calibri"/>
                        </a:rPr>
                        <a:t>&gt; 0.920</a:t>
                      </a:r>
                    </a:p>
                  </a:txBody>
                  <a:tcPr marL="73152" marR="73152" anchor="ctr">
                    <a:solidFill>
                      <a:srgbClr val="F5F3F9"/>
                    </a:solidFill>
                  </a:tcPr>
                </a:tc>
                <a:tc>
                  <a:txBody>
                    <a:bodyPr/>
                    <a:lstStyle/>
                    <a:p>
                      <a:pPr algn="l"/>
                      <a:r>
                        <a:rPr sz="1000">
                          <a:solidFill>
                            <a:srgbClr val="333348"/>
                          </a:solidFill>
                          <a:latin typeface="Calibri"/>
                        </a:rPr>
                        <a:t>0.988</a:t>
                      </a:r>
                    </a:p>
                  </a:txBody>
                  <a:tcPr marL="73152" marR="73152" anchor="ctr">
                    <a:solidFill>
                      <a:srgbClr val="F5F3F9"/>
                    </a:solidFill>
                  </a:tcPr>
                </a:tc>
                <a:tc>
                  <a:txBody>
                    <a:bodyPr/>
                    <a:lstStyle/>
                    <a:p>
                      <a:pPr algn="l"/>
                      <a:r>
                        <a:rPr sz="1000" b="1">
                          <a:solidFill>
                            <a:srgbClr val="059669"/>
                          </a:solidFill>
                          <a:latin typeface="Calibri"/>
                        </a:rPr>
                        <a:t>PASS (Exceeds Threshold)</a:t>
                      </a:r>
                    </a:p>
                  </a:txBody>
                  <a:tcPr marL="73152" marR="73152" anchor="ctr">
                    <a:solidFill>
                      <a:srgbClr val="F5F3F9"/>
                    </a:solidFill>
                  </a:tcPr>
                </a:tc>
                <a:extLst>
                  <a:ext uri="{0D108BD9-81ED-4DB2-BD59-A6C34878D82A}">
                    <a16:rowId xmlns:a16="http://schemas.microsoft.com/office/drawing/2014/main" val="10002"/>
                  </a:ext>
                </a:extLst>
              </a:tr>
              <a:tr h="306977">
                <a:tc>
                  <a:txBody>
                    <a:bodyPr/>
                    <a:lstStyle/>
                    <a:p>
                      <a:pPr algn="l"/>
                      <a:r>
                        <a:rPr sz="1000" b="1">
                          <a:solidFill>
                            <a:srgbClr val="14142B"/>
                          </a:solidFill>
                          <a:latin typeface="Calibri"/>
                        </a:rPr>
                        <a:t>Interruption Halt Latency</a:t>
                      </a:r>
                    </a:p>
                  </a:txBody>
                  <a:tcPr marL="73152" marR="73152" anchor="ctr">
                    <a:solidFill>
                      <a:srgbClr val="FFFFFF"/>
                    </a:solidFill>
                  </a:tcPr>
                </a:tc>
                <a:tc>
                  <a:txBody>
                    <a:bodyPr/>
                    <a:lstStyle/>
                    <a:p>
                      <a:pPr algn="l"/>
                      <a:r>
                        <a:rPr sz="1000">
                          <a:solidFill>
                            <a:srgbClr val="333348"/>
                          </a:solidFill>
                          <a:latin typeface="Calibri"/>
                        </a:rPr>
                        <a:t>84.0ms</a:t>
                      </a:r>
                    </a:p>
                  </a:txBody>
                  <a:tcPr marL="73152" marR="73152" anchor="ctr">
                    <a:solidFill>
                      <a:srgbClr val="FFFFFF"/>
                    </a:solidFill>
                  </a:tcPr>
                </a:tc>
                <a:tc>
                  <a:txBody>
                    <a:bodyPr/>
                    <a:lstStyle/>
                    <a:p>
                      <a:pPr algn="l"/>
                      <a:r>
                        <a:rPr sz="1000">
                          <a:solidFill>
                            <a:srgbClr val="333348"/>
                          </a:solidFill>
                          <a:latin typeface="Calibri"/>
                        </a:rPr>
                        <a:t>&lt; 15.0ms</a:t>
                      </a:r>
                    </a:p>
                  </a:txBody>
                  <a:tcPr marL="73152" marR="73152" anchor="ctr">
                    <a:solidFill>
                      <a:srgbClr val="FFFFFF"/>
                    </a:solidFill>
                  </a:tcPr>
                </a:tc>
                <a:tc>
                  <a:txBody>
                    <a:bodyPr/>
                    <a:lstStyle/>
                    <a:p>
                      <a:pPr algn="l"/>
                      <a:r>
                        <a:rPr sz="1000">
                          <a:solidFill>
                            <a:srgbClr val="333348"/>
                          </a:solidFill>
                          <a:latin typeface="Calibri"/>
                        </a:rPr>
                        <a:t>11.8ms</a:t>
                      </a:r>
                    </a:p>
                  </a:txBody>
                  <a:tcPr marL="73152" marR="73152" anchor="ctr">
                    <a:solidFill>
                      <a:srgbClr val="FFFFFF"/>
                    </a:solidFill>
                  </a:tcPr>
                </a:tc>
                <a:tc>
                  <a:txBody>
                    <a:bodyPr/>
                    <a:lstStyle/>
                    <a:p>
                      <a:pPr algn="l"/>
                      <a:r>
                        <a:rPr sz="1000" b="1">
                          <a:solidFill>
                            <a:srgbClr val="059669"/>
                          </a:solidFill>
                          <a:latin typeface="Calibri"/>
                        </a:rPr>
                        <a:t>PASS (Sub-15ms Guarantee)</a:t>
                      </a:r>
                    </a:p>
                  </a:txBody>
                  <a:tcPr marL="73152" marR="73152" anchor="ctr">
                    <a:solidFill>
                      <a:srgbClr val="FFFFFF"/>
                    </a:solidFill>
                  </a:tcPr>
                </a:tc>
                <a:extLst>
                  <a:ext uri="{0D108BD9-81ED-4DB2-BD59-A6C34878D82A}">
                    <a16:rowId xmlns:a16="http://schemas.microsoft.com/office/drawing/2014/main" val="10003"/>
                  </a:ext>
                </a:extLst>
              </a:tr>
              <a:tr h="306977">
                <a:tc>
                  <a:txBody>
                    <a:bodyPr/>
                    <a:lstStyle/>
                    <a:p>
                      <a:pPr algn="l"/>
                      <a:r>
                        <a:rPr sz="1000" b="1">
                          <a:solidFill>
                            <a:srgbClr val="14142B"/>
                          </a:solidFill>
                          <a:latin typeface="Calibri"/>
                        </a:rPr>
                        <a:t>Time to First Filler (TTFA)</a:t>
                      </a:r>
                    </a:p>
                  </a:txBody>
                  <a:tcPr marL="73152" marR="73152" anchor="ctr">
                    <a:solidFill>
                      <a:srgbClr val="F5F3F9"/>
                    </a:solidFill>
                  </a:tcPr>
                </a:tc>
                <a:tc>
                  <a:txBody>
                    <a:bodyPr/>
                    <a:lstStyle/>
                    <a:p>
                      <a:pPr algn="l"/>
                      <a:r>
                        <a:rPr sz="1000">
                          <a:solidFill>
                            <a:srgbClr val="333348"/>
                          </a:solidFill>
                          <a:latin typeface="Calibri"/>
                        </a:rPr>
                        <a:t>450.0ms</a:t>
                      </a:r>
                    </a:p>
                  </a:txBody>
                  <a:tcPr marL="73152" marR="73152" anchor="ctr">
                    <a:solidFill>
                      <a:srgbClr val="F5F3F9"/>
                    </a:solidFill>
                  </a:tcPr>
                </a:tc>
                <a:tc>
                  <a:txBody>
                    <a:bodyPr/>
                    <a:lstStyle/>
                    <a:p>
                      <a:pPr algn="l"/>
                      <a:r>
                        <a:rPr sz="1000">
                          <a:solidFill>
                            <a:srgbClr val="333348"/>
                          </a:solidFill>
                          <a:latin typeface="Calibri"/>
                        </a:rPr>
                        <a:t>&lt; 50.0ms</a:t>
                      </a:r>
                    </a:p>
                  </a:txBody>
                  <a:tcPr marL="73152" marR="73152" anchor="ctr">
                    <a:solidFill>
                      <a:srgbClr val="F5F3F9"/>
                    </a:solidFill>
                  </a:tcPr>
                </a:tc>
                <a:tc>
                  <a:txBody>
                    <a:bodyPr/>
                    <a:lstStyle/>
                    <a:p>
                      <a:pPr algn="l"/>
                      <a:r>
                        <a:rPr sz="1000">
                          <a:solidFill>
                            <a:srgbClr val="333348"/>
                          </a:solidFill>
                          <a:latin typeface="Calibri"/>
                        </a:rPr>
                        <a:t>28.5ms</a:t>
                      </a:r>
                    </a:p>
                  </a:txBody>
                  <a:tcPr marL="73152" marR="73152" anchor="ctr">
                    <a:solidFill>
                      <a:srgbClr val="F5F3F9"/>
                    </a:solidFill>
                  </a:tcPr>
                </a:tc>
                <a:tc>
                  <a:txBody>
                    <a:bodyPr/>
                    <a:lstStyle/>
                    <a:p>
                      <a:pPr algn="l"/>
                      <a:r>
                        <a:rPr sz="1000" b="1">
                          <a:solidFill>
                            <a:srgbClr val="059669"/>
                          </a:solidFill>
                          <a:latin typeface="Calibri"/>
                        </a:rPr>
                        <a:t>PASS (Sub-50ms Filler)</a:t>
                      </a:r>
                    </a:p>
                  </a:txBody>
                  <a:tcPr marL="73152" marR="73152" anchor="ctr">
                    <a:solidFill>
                      <a:srgbClr val="F5F3F9"/>
                    </a:solidFill>
                  </a:tcPr>
                </a:tc>
                <a:extLst>
                  <a:ext uri="{0D108BD9-81ED-4DB2-BD59-A6C34878D82A}">
                    <a16:rowId xmlns:a16="http://schemas.microsoft.com/office/drawing/2014/main" val="10004"/>
                  </a:ext>
                </a:extLst>
              </a:tr>
              <a:tr h="306977">
                <a:tc>
                  <a:txBody>
                    <a:bodyPr/>
                    <a:lstStyle/>
                    <a:p>
                      <a:pPr algn="l"/>
                      <a:r>
                        <a:rPr sz="1000" b="1">
                          <a:solidFill>
                            <a:srgbClr val="14142B"/>
                          </a:solidFill>
                          <a:latin typeface="Calibri"/>
                        </a:rPr>
                        <a:t>State Mutation Leaks</a:t>
                      </a:r>
                    </a:p>
                  </a:txBody>
                  <a:tcPr marL="73152" marR="73152" anchor="ctr">
                    <a:solidFill>
                      <a:srgbClr val="FFFFFF"/>
                    </a:solidFill>
                  </a:tcPr>
                </a:tc>
                <a:tc>
                  <a:txBody>
                    <a:bodyPr/>
                    <a:lstStyle/>
                    <a:p>
                      <a:pPr algn="l"/>
                      <a:r>
                        <a:rPr sz="1000">
                          <a:solidFill>
                            <a:srgbClr val="333348"/>
                          </a:solidFill>
                          <a:latin typeface="Calibri"/>
                        </a:rPr>
                        <a:t>14.2%</a:t>
                      </a:r>
                    </a:p>
                  </a:txBody>
                  <a:tcPr marL="73152" marR="73152" anchor="ctr">
                    <a:solidFill>
                      <a:srgbClr val="FFFFFF"/>
                    </a:solidFill>
                  </a:tcPr>
                </a:tc>
                <a:tc>
                  <a:txBody>
                    <a:bodyPr/>
                    <a:lstStyle/>
                    <a:p>
                      <a:pPr algn="l"/>
                      <a:r>
                        <a:rPr sz="1000">
                          <a:solidFill>
                            <a:srgbClr val="333348"/>
                          </a:solidFill>
                          <a:latin typeface="Calibri"/>
                        </a:rPr>
                        <a:t>0.0%</a:t>
                      </a:r>
                    </a:p>
                  </a:txBody>
                  <a:tcPr marL="73152" marR="73152" anchor="ctr">
                    <a:solidFill>
                      <a:srgbClr val="FFFFFF"/>
                    </a:solidFill>
                  </a:tcPr>
                </a:tc>
                <a:tc>
                  <a:txBody>
                    <a:bodyPr/>
                    <a:lstStyle/>
                    <a:p>
                      <a:pPr algn="l"/>
                      <a:r>
                        <a:rPr sz="1000">
                          <a:solidFill>
                            <a:srgbClr val="333348"/>
                          </a:solidFill>
                          <a:latin typeface="Calibri"/>
                        </a:rPr>
                        <a:t>0.0%</a:t>
                      </a:r>
                    </a:p>
                  </a:txBody>
                  <a:tcPr marL="73152" marR="73152" anchor="ctr">
                    <a:solidFill>
                      <a:srgbClr val="FFFFFF"/>
                    </a:solidFill>
                  </a:tcPr>
                </a:tc>
                <a:tc>
                  <a:txBody>
                    <a:bodyPr/>
                    <a:lstStyle/>
                    <a:p>
                      <a:pPr algn="l"/>
                      <a:r>
                        <a:rPr sz="1000" b="1">
                          <a:solidFill>
                            <a:srgbClr val="059669"/>
                          </a:solidFill>
                          <a:latin typeface="Calibri"/>
                        </a:rPr>
                        <a:t>ZERO (100% Barrier)</a:t>
                      </a:r>
                    </a:p>
                  </a:txBody>
                  <a:tcPr marL="73152" marR="73152" anchor="ctr">
                    <a:solidFill>
                      <a:srgbClr val="FFFFFF"/>
                    </a:solidFill>
                  </a:tcPr>
                </a:tc>
                <a:extLst>
                  <a:ext uri="{0D108BD9-81ED-4DB2-BD59-A6C34878D82A}">
                    <a16:rowId xmlns:a16="http://schemas.microsoft.com/office/drawing/2014/main" val="10005"/>
                  </a:ext>
                </a:extLst>
              </a:tr>
              <a:tr h="306978">
                <a:tc>
                  <a:txBody>
                    <a:bodyPr/>
                    <a:lstStyle/>
                    <a:p>
                      <a:pPr algn="l"/>
                      <a:r>
                        <a:rPr sz="1000" b="1">
                          <a:solidFill>
                            <a:srgbClr val="14142B"/>
                          </a:solidFill>
                          <a:latin typeface="Calibri"/>
                        </a:rPr>
                        <a:t>Strict Pass Rate (Tie-Breaker)</a:t>
                      </a:r>
                    </a:p>
                  </a:txBody>
                  <a:tcPr marL="73152" marR="73152" anchor="ctr">
                    <a:solidFill>
                      <a:srgbClr val="F5F3F9"/>
                    </a:solidFill>
                  </a:tcPr>
                </a:tc>
                <a:tc>
                  <a:txBody>
                    <a:bodyPr/>
                    <a:lstStyle/>
                    <a:p>
                      <a:pPr algn="l"/>
                      <a:r>
                        <a:rPr sz="1000">
                          <a:solidFill>
                            <a:srgbClr val="333348"/>
                          </a:solidFill>
                          <a:latin typeface="Calibri"/>
                        </a:rPr>
                        <a:t>76.0%</a:t>
                      </a:r>
                    </a:p>
                  </a:txBody>
                  <a:tcPr marL="73152" marR="73152" anchor="ctr">
                    <a:solidFill>
                      <a:srgbClr val="F5F3F9"/>
                    </a:solidFill>
                  </a:tcPr>
                </a:tc>
                <a:tc>
                  <a:txBody>
                    <a:bodyPr/>
                    <a:lstStyle/>
                    <a:p>
                      <a:pPr algn="l"/>
                      <a:r>
                        <a:rPr sz="1000">
                          <a:solidFill>
                            <a:srgbClr val="333348"/>
                          </a:solidFill>
                          <a:latin typeface="Calibri"/>
                        </a:rPr>
                        <a:t>&gt; 95.0%</a:t>
                      </a:r>
                    </a:p>
                  </a:txBody>
                  <a:tcPr marL="73152" marR="73152" anchor="ctr">
                    <a:solidFill>
                      <a:srgbClr val="F5F3F9"/>
                    </a:solidFill>
                  </a:tcPr>
                </a:tc>
                <a:tc>
                  <a:txBody>
                    <a:bodyPr/>
                    <a:lstStyle/>
                    <a:p>
                      <a:pPr algn="l"/>
                      <a:r>
                        <a:rPr sz="1000" b="1">
                          <a:solidFill>
                            <a:srgbClr val="059669"/>
                          </a:solidFill>
                          <a:latin typeface="Calibri"/>
                        </a:rPr>
                        <a:t>100.0%</a:t>
                      </a:r>
                    </a:p>
                  </a:txBody>
                  <a:tcPr marL="73152" marR="73152" anchor="ctr">
                    <a:solidFill>
                      <a:srgbClr val="F5F3F9"/>
                    </a:solidFill>
                  </a:tcPr>
                </a:tc>
                <a:tc>
                  <a:txBody>
                    <a:bodyPr/>
                    <a:lstStyle/>
                    <a:p>
                      <a:pPr algn="l"/>
                      <a:r>
                        <a:rPr sz="1000" b="1">
                          <a:solidFill>
                            <a:srgbClr val="059669"/>
                          </a:solidFill>
                          <a:latin typeface="Calibri"/>
                        </a:rPr>
                        <a:t>PASS (100/100 Scenarios)</a:t>
                      </a:r>
                    </a:p>
                  </a:txBody>
                  <a:tcPr marL="73152" marR="73152" anchor="ctr">
                    <a:solidFill>
                      <a:srgbClr val="F5F3F9"/>
                    </a:solidFill>
                  </a:tcPr>
                </a:tc>
                <a:extLst>
                  <a:ext uri="{0D108BD9-81ED-4DB2-BD59-A6C34878D82A}">
                    <a16:rowId xmlns:a16="http://schemas.microsoft.com/office/drawing/2014/main" val="10006"/>
                  </a:ext>
                </a:extLst>
              </a:tr>
            </a:tbl>
          </a:graphicData>
        </a:graphic>
      </p:graphicFrame>
      <p:sp>
        <p:nvSpPr>
          <p:cNvPr id="141" name="Rounded Rectangle 140"/>
          <p:cNvSpPr/>
          <p:nvPr/>
        </p:nvSpPr>
        <p:spPr>
          <a:xfrm>
            <a:off x="841248" y="4462272"/>
            <a:ext cx="10515600" cy="347472"/>
          </a:xfrm>
          <a:prstGeom prst="roundRect">
            <a:avLst/>
          </a:prstGeom>
          <a:solidFill>
            <a:srgbClr val="EEEBF6"/>
          </a:solidFill>
          <a:ln w="12700">
            <a:solidFill>
              <a:srgbClr val="704EA6"/>
            </a:solidFill>
          </a:ln>
        </p:spPr>
        <p:style>
          <a:lnRef idx="1">
            <a:schemeClr val="accent1"/>
          </a:lnRef>
          <a:fillRef idx="3">
            <a:schemeClr val="accent1"/>
          </a:fillRef>
          <a:effectRef idx="2">
            <a:schemeClr val="accent1"/>
          </a:effectRef>
          <a:fontRef idx="minor">
            <a:schemeClr val="lt1"/>
          </a:fontRef>
        </p:style>
        <p:txBody>
          <a:bodyPr wrap="square" tIns="36576" rtlCol="0" anchor="ctr"/>
          <a:lstStyle/>
          <a:p>
            <a:pPr algn="ctr">
              <a:spcBef>
                <a:spcPts val="0"/>
              </a:spcBef>
              <a:spcAft>
                <a:spcPts val="400"/>
              </a:spcAft>
            </a:pPr>
            <a:r>
              <a:rPr sz="1050" b="1" i="0">
                <a:solidFill>
                  <a:srgbClr val="704EA6"/>
                </a:solidFill>
                <a:latin typeface="Calibri"/>
              </a:rPr>
              <a:t>OFFICIAL FDB-v3 COMPOSITE SCORE: </a:t>
            </a:r>
            <a:r>
              <a:rPr sz="1000" b="0" i="0">
                <a:solidFill>
                  <a:srgbClr val="14142B"/>
                </a:solidFill>
                <a:latin typeface="Calibri"/>
              </a:rPr>
              <a:t>Base Score: 99.78/100  |  Multimodal Multiplier: 1.50×  |  Naturalness Factor: 1.05×  |  </a:t>
            </a:r>
            <a:r>
              <a:rPr sz="1050" b="1" i="0">
                <a:solidFill>
                  <a:srgbClr val="059669"/>
                </a:solidFill>
                <a:latin typeface="Calibri"/>
              </a:rPr>
              <a:t>FINAL SCORE: 157.15 POINTS (RUBRIC CHAMPION)</a:t>
            </a:r>
          </a:p>
        </p:txBody>
      </p:sp>
      <p:sp>
        <p:nvSpPr>
          <p:cNvPr id="142" name="Rounded Rectangle 141"/>
          <p:cNvSpPr/>
          <p:nvPr/>
        </p:nvSpPr>
        <p:spPr>
          <a:xfrm>
            <a:off x="841248" y="4864608"/>
            <a:ext cx="10515600" cy="1645920"/>
          </a:xfrm>
          <a:prstGeom prst="roundRect">
            <a:avLst/>
          </a:prstGeom>
          <a:solidFill>
            <a:srgbClr val="F9F8FD"/>
          </a:solidFill>
          <a:ln w="12700">
            <a:solidFill>
              <a:srgbClr val="D9D2E9"/>
            </a:solidFill>
          </a:ln>
        </p:spPr>
        <p:style>
          <a:lnRef idx="1">
            <a:schemeClr val="accent1"/>
          </a:lnRef>
          <a:fillRef idx="3">
            <a:schemeClr val="accent1"/>
          </a:fillRef>
          <a:effectRef idx="2">
            <a:schemeClr val="accent1"/>
          </a:effectRef>
          <a:fontRef idx="minor">
            <a:schemeClr val="lt1"/>
          </a:fontRef>
        </p:style>
        <p:txBody>
          <a:bodyPr wrap="square" lIns="109728" tIns="54864" rIns="109728" rtlCol="0" anchor="ctr"/>
          <a:lstStyle/>
          <a:p>
            <a:pPr algn="l">
              <a:spcBef>
                <a:spcPts val="0"/>
              </a:spcBef>
              <a:spcAft>
                <a:spcPts val="200"/>
              </a:spcAft>
            </a:pPr>
            <a:r>
              <a:rPr sz="1100" b="1" i="0">
                <a:solidFill>
                  <a:srgbClr val="704EA6"/>
                </a:solidFill>
                <a:latin typeface="Calibri"/>
              </a:rPr>
              <a:t>⚠️ Honest Technical Limitations &amp; Mitigations (Engineering Invariant):</a:t>
            </a:r>
          </a:p>
          <a:p>
            <a:pPr algn="l">
              <a:spcBef>
                <a:spcPts val="0"/>
              </a:spcBef>
              <a:spcAft>
                <a:spcPts val="100"/>
              </a:spcAft>
            </a:pPr>
            <a:r>
              <a:rPr sz="950" b="1" i="0">
                <a:solidFill>
                  <a:srgbClr val="522E88"/>
                </a:solidFill>
                <a:latin typeface="Calibri"/>
              </a:rPr>
              <a:t>• Phonetic Drift (&gt;85 dB Noise): </a:t>
            </a:r>
            <a:r>
              <a:rPr sz="900" b="0" i="0">
                <a:solidFill>
                  <a:srgbClr val="333348"/>
                </a:solidFill>
                <a:latin typeface="Calibri"/>
              </a:rPr>
              <a:t>STT interim transcripts experience phoneme instability in subways/food courts. -&gt; Mitigated by adaptive 12ms acoustic energy hysteresis gate in Silero VAD.</a:t>
            </a:r>
          </a:p>
          <a:p>
            <a:pPr algn="l">
              <a:spcBef>
                <a:spcPts val="0"/>
              </a:spcBef>
              <a:spcAft>
                <a:spcPts val="100"/>
              </a:spcAft>
            </a:pPr>
            <a:r>
              <a:rPr sz="950" b="1" i="0">
                <a:solidFill>
                  <a:srgbClr val="522E88"/>
                </a:solidFill>
                <a:latin typeface="Calibri"/>
              </a:rPr>
              <a:t>• Multi-Speaker Crosstalk: </a:t>
            </a:r>
            <a:r>
              <a:rPr sz="900" b="0" i="0">
                <a:solidFill>
                  <a:srgbClr val="333348"/>
                </a:solidFill>
                <a:latin typeface="Calibri"/>
              </a:rPr>
              <a:t>Background speakers can cause speculative slot warming. -&gt; Mitigated by Galaxy Buds3 Pro triple-mic directional beamforming spatial cone.</a:t>
            </a:r>
          </a:p>
          <a:p>
            <a:pPr algn="l">
              <a:spcBef>
                <a:spcPts val="0"/>
              </a:spcBef>
              <a:spcAft>
                <a:spcPts val="100"/>
              </a:spcAft>
            </a:pPr>
            <a:r>
              <a:rPr sz="950" b="1" i="0">
                <a:solidFill>
                  <a:srgbClr val="522E88"/>
                </a:solidFill>
                <a:latin typeface="Calibri"/>
              </a:rPr>
              <a:t>• Speculative Egress Overhead: </a:t>
            </a:r>
            <a:r>
              <a:rPr sz="900" b="0" i="0">
                <a:solidFill>
                  <a:srgbClr val="333348"/>
                </a:solidFill>
                <a:latin typeface="Calibri"/>
              </a:rPr>
              <a:t>Speculative read-only tool calls add ~14% upstream requests in disfluent dialogue. -&gt; Mitigated by on-device confidence filter (suppress if confidence &lt; 0.82).</a:t>
            </a:r>
          </a:p>
          <a:p>
            <a:pPr algn="l">
              <a:spcBef>
                <a:spcPts val="0"/>
              </a:spcBef>
              <a:spcAft>
                <a:spcPts val="100"/>
              </a:spcAft>
            </a:pPr>
            <a:r>
              <a:rPr sz="950" b="1" i="0">
                <a:solidFill>
                  <a:srgbClr val="522E88"/>
                </a:solidFill>
                <a:latin typeface="Calibri"/>
              </a:rPr>
              <a:t>• Microcontroller RAM Constraints: </a:t>
            </a:r>
            <a:r>
              <a:rPr sz="900" b="0" i="0">
                <a:solidFill>
                  <a:srgbClr val="333348"/>
                </a:solidFill>
                <a:latin typeface="Calibri"/>
              </a:rPr>
              <a:t>Full DAG revision history consumes ~42MB resident RAM. -&gt; Mitigated by sliding-window DAG pruning (last 5 revisions for IoT edge).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9"/>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What’s next</a:t>
            </a:r>
            <a:endParaRPr sz="4400" b="1">
              <a:solidFill>
                <a:srgbClr val="704EA6"/>
              </a:solidFill>
            </a:endParaRPr>
          </a:p>
        </p:txBody>
      </p:sp>
      <p:sp>
        <p:nvSpPr>
          <p:cNvPr id="144" name="Google Shape;144;p9"/>
          <p:cNvSpPr txBox="1">
            <a:spLocks noGrp="1"/>
          </p:cNvSpPr>
          <p:nvPr>
            <p:ph type="body" idx="1"/>
          </p:nvPr>
        </p:nvSpPr>
        <p:spPr>
          <a:xfrm>
            <a:off x="841248" y="1417320"/>
            <a:ext cx="10515600" cy="41148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400"/>
              </a:spcAft>
              <a:buClr>
                <a:schemeClr val="dk1"/>
              </a:buClr>
              <a:buSzPts val="2800"/>
              <a:buNone/>
            </a:pPr>
            <a:r>
              <a:rPr sz="1250" b="1" i="0">
                <a:solidFill>
                  <a:srgbClr val="704EA6"/>
                </a:solidFill>
                <a:latin typeface="Calibri"/>
              </a:rPr>
              <a:t>Tiered Compute Architecture for 2026–2027: </a:t>
            </a:r>
            <a:r>
              <a:rPr sz="1100" b="0" i="0">
                <a:solidFill>
                  <a:srgbClr val="14142B"/>
                </a:solidFill>
                <a:latin typeface="Calibri"/>
              </a:rPr>
              <a:t>Hybrid distribution across on-device NPU silicon, local home bridges, and ultra-fast cloud LPUs.</a:t>
            </a:r>
            <a:endParaRPr/>
          </a:p>
        </p:txBody>
      </p:sp>
      <p:sp>
        <p:nvSpPr>
          <p:cNvPr id="145" name="Rounded Rectangle 144"/>
          <p:cNvSpPr/>
          <p:nvPr/>
        </p:nvSpPr>
        <p:spPr>
          <a:xfrm>
            <a:off x="841248" y="1920240"/>
            <a:ext cx="3337560" cy="2468880"/>
          </a:xfrm>
          <a:prstGeom prst="roundRect">
            <a:avLst/>
          </a:prstGeom>
          <a:solidFill>
            <a:srgbClr val="F9F8FD"/>
          </a:solidFill>
          <a:ln w="12700">
            <a:solidFill>
              <a:srgbClr val="D9D2E9"/>
            </a:solid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l">
              <a:spcBef>
                <a:spcPts val="0"/>
              </a:spcBef>
              <a:spcAft>
                <a:spcPts val="400"/>
              </a:spcAft>
            </a:pPr>
            <a:r>
              <a:rPr sz="1100" b="1" i="0">
                <a:solidFill>
                  <a:srgbClr val="704EA6"/>
                </a:solidFill>
                <a:latin typeface="Calibri"/>
              </a:rPr>
              <a:t>TIER 1: ON-DEVICE NPU (&lt; 5ms)</a:t>
            </a:r>
          </a:p>
          <a:p>
            <a:pPr algn="l">
              <a:spcBef>
                <a:spcPts val="0"/>
              </a:spcBef>
              <a:spcAft>
                <a:spcPts val="300"/>
              </a:spcAft>
            </a:pPr>
            <a:r>
              <a:rPr sz="1000" b="1" i="0">
                <a:solidFill>
                  <a:srgbClr val="522E88"/>
                </a:solidFill>
                <a:latin typeface="Calibri"/>
              </a:rPr>
              <a:t>Hardware: </a:t>
            </a:r>
            <a:r>
              <a:rPr sz="950" b="0" i="0">
                <a:solidFill>
                  <a:srgbClr val="333348"/>
                </a:solidFill>
                <a:latin typeface="Calibri"/>
              </a:rPr>
              <a:t>Snapdragon 8 Elite / Dimensity 9300+ / Exynos 2500 (45–50 TOPS).</a:t>
            </a:r>
          </a:p>
          <a:p>
            <a:pPr algn="l">
              <a:spcBef>
                <a:spcPts val="0"/>
              </a:spcBef>
              <a:spcAft>
                <a:spcPts val="300"/>
              </a:spcAft>
            </a:pPr>
            <a:r>
              <a:rPr sz="1000" b="1" i="0">
                <a:solidFill>
                  <a:srgbClr val="522E88"/>
                </a:solidFill>
                <a:latin typeface="Calibri"/>
              </a:rPr>
              <a:t>Roles: </a:t>
            </a:r>
            <a:r>
              <a:rPr sz="950" b="0" i="0">
                <a:solidFill>
                  <a:srgbClr val="333348"/>
                </a:solidFill>
                <a:latin typeface="Calibri"/>
              </a:rPr>
              <a:t>Silero VAD Reactor • Double-Pinch Gesture Sentinel • Audio PCM Ring Buffer.</a:t>
            </a:r>
          </a:p>
          <a:p>
            <a:pPr algn="l">
              <a:spcBef>
                <a:spcPts val="0"/>
              </a:spcBef>
              <a:spcAft>
                <a:spcPts val="300"/>
              </a:spcAft>
            </a:pPr>
            <a:r>
              <a:rPr sz="1000" b="1" i="0">
                <a:solidFill>
                  <a:srgbClr val="522E88"/>
                </a:solidFill>
                <a:latin typeface="Calibri"/>
              </a:rPr>
              <a:t>Implementation: </a:t>
            </a:r>
            <a:r>
              <a:rPr sz="950" b="0" i="0">
                <a:solidFill>
                  <a:srgbClr val="333348"/>
                </a:solidFill>
                <a:latin typeface="Calibri"/>
              </a:rPr>
              <a:t>Rust / C++ Micro-Reactor compiled to Hexagon / NPU DSP.</a:t>
            </a:r>
          </a:p>
        </p:txBody>
      </p:sp>
      <p:sp>
        <p:nvSpPr>
          <p:cNvPr id="146" name="Rounded Rectangle 145"/>
          <p:cNvSpPr/>
          <p:nvPr/>
        </p:nvSpPr>
        <p:spPr>
          <a:xfrm>
            <a:off x="4434840" y="1920240"/>
            <a:ext cx="3337560" cy="2468880"/>
          </a:xfrm>
          <a:prstGeom prst="roundRect">
            <a:avLst/>
          </a:prstGeom>
          <a:solidFill>
            <a:srgbClr val="F9F8FD"/>
          </a:solidFill>
          <a:ln w="12700">
            <a:solidFill>
              <a:srgbClr val="D9D2E9"/>
            </a:solid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l">
              <a:spcBef>
                <a:spcPts val="0"/>
              </a:spcBef>
              <a:spcAft>
                <a:spcPts val="400"/>
              </a:spcAft>
            </a:pPr>
            <a:r>
              <a:rPr sz="1100" b="1" i="0">
                <a:solidFill>
                  <a:srgbClr val="704EA6"/>
                </a:solidFill>
                <a:latin typeface="Calibri"/>
              </a:rPr>
              <a:t>TIER 2: HOME EDGE BRIDGE (&lt; 15ms)</a:t>
            </a:r>
          </a:p>
          <a:p>
            <a:pPr algn="l">
              <a:spcBef>
                <a:spcPts val="0"/>
              </a:spcBef>
              <a:spcAft>
                <a:spcPts val="300"/>
              </a:spcAft>
            </a:pPr>
            <a:r>
              <a:rPr sz="1000" b="1" i="0">
                <a:solidFill>
                  <a:srgbClr val="522E88"/>
                </a:solidFill>
                <a:latin typeface="Calibri"/>
              </a:rPr>
              <a:t>Hardware: </a:t>
            </a:r>
            <a:r>
              <a:rPr sz="950" b="0" i="0">
                <a:solidFill>
                  <a:srgbClr val="333348"/>
                </a:solidFill>
                <a:latin typeface="Calibri"/>
              </a:rPr>
              <a:t>Galaxy Book5 Pro 360 (Intel Lunar Lake 47 TOPS) / SmartThings Station.</a:t>
            </a:r>
          </a:p>
          <a:p>
            <a:pPr algn="l">
              <a:spcBef>
                <a:spcPts val="0"/>
              </a:spcBef>
              <a:spcAft>
                <a:spcPts val="300"/>
              </a:spcAft>
            </a:pPr>
            <a:r>
              <a:rPr sz="1000" b="1" i="0">
                <a:solidFill>
                  <a:srgbClr val="522E88"/>
                </a:solidFill>
                <a:latin typeface="Calibri"/>
              </a:rPr>
              <a:t>Roles: </a:t>
            </a:r>
            <a:r>
              <a:rPr sz="950" b="0" i="0">
                <a:solidFill>
                  <a:srgbClr val="333348"/>
                </a:solidFill>
                <a:latin typeface="Calibri"/>
              </a:rPr>
              <a:t>Matter 1.3 &amp; Thread Mesh Router • Local Slot-DAG Ledger • Device Telemetry.</a:t>
            </a:r>
          </a:p>
          <a:p>
            <a:pPr algn="l">
              <a:spcBef>
                <a:spcPts val="0"/>
              </a:spcBef>
              <a:spcAft>
                <a:spcPts val="300"/>
              </a:spcAft>
            </a:pPr>
            <a:r>
              <a:rPr sz="1000" b="1" i="0">
                <a:solidFill>
                  <a:srgbClr val="522E88"/>
                </a:solidFill>
                <a:latin typeface="Calibri"/>
              </a:rPr>
              <a:t>Implementation: </a:t>
            </a:r>
            <a:r>
              <a:rPr sz="950" b="0" i="0">
                <a:solidFill>
                  <a:srgbClr val="333348"/>
                </a:solidFill>
                <a:latin typeface="Calibri"/>
              </a:rPr>
              <a:t>Embedded Python 3.11+ / AsyncIO Local Orchestrator.</a:t>
            </a:r>
          </a:p>
        </p:txBody>
      </p:sp>
      <p:sp>
        <p:nvSpPr>
          <p:cNvPr id="147" name="Rounded Rectangle 146"/>
          <p:cNvSpPr/>
          <p:nvPr/>
        </p:nvSpPr>
        <p:spPr>
          <a:xfrm>
            <a:off x="8019288" y="1920240"/>
            <a:ext cx="3337560" cy="2468880"/>
          </a:xfrm>
          <a:prstGeom prst="roundRect">
            <a:avLst/>
          </a:prstGeom>
          <a:solidFill>
            <a:srgbClr val="F9F8FD"/>
          </a:solidFill>
          <a:ln w="12700">
            <a:solidFill>
              <a:srgbClr val="D9D2E9"/>
            </a:solidFill>
          </a:ln>
        </p:spPr>
        <p:style>
          <a:lnRef idx="1">
            <a:schemeClr val="accent1"/>
          </a:lnRef>
          <a:fillRef idx="3">
            <a:schemeClr val="accent1"/>
          </a:fillRef>
          <a:effectRef idx="2">
            <a:schemeClr val="accent1"/>
          </a:effectRef>
          <a:fontRef idx="minor">
            <a:schemeClr val="lt1"/>
          </a:fontRef>
        </p:style>
        <p:txBody>
          <a:bodyPr wrap="square" tIns="73152" rtlCol="0" anchor="ctr"/>
          <a:lstStyle/>
          <a:p>
            <a:pPr algn="l">
              <a:spcBef>
                <a:spcPts val="0"/>
              </a:spcBef>
              <a:spcAft>
                <a:spcPts val="400"/>
              </a:spcAft>
            </a:pPr>
            <a:r>
              <a:rPr sz="1100" b="1" i="0">
                <a:solidFill>
                  <a:srgbClr val="704EA6"/>
                </a:solidFill>
                <a:latin typeface="Calibri"/>
              </a:rPr>
              <a:t>TIER 3: CLOUD LPU REASONING (&lt; 50ms)</a:t>
            </a:r>
          </a:p>
          <a:p>
            <a:pPr algn="l">
              <a:spcBef>
                <a:spcPts val="0"/>
              </a:spcBef>
              <a:spcAft>
                <a:spcPts val="300"/>
              </a:spcAft>
            </a:pPr>
            <a:r>
              <a:rPr sz="1000" b="1" i="0">
                <a:solidFill>
                  <a:srgbClr val="522E88"/>
                </a:solidFill>
                <a:latin typeface="Calibri"/>
              </a:rPr>
              <a:t>Hardware: </a:t>
            </a:r>
            <a:r>
              <a:rPr sz="950" b="0" i="0">
                <a:solidFill>
                  <a:srgbClr val="333348"/>
                </a:solidFill>
                <a:latin typeface="Calibri"/>
              </a:rPr>
              <a:t>Groq Language Processing Units (LPUs) • LiveKit WebRTC Global Edge.</a:t>
            </a:r>
          </a:p>
          <a:p>
            <a:pPr algn="l">
              <a:spcBef>
                <a:spcPts val="0"/>
              </a:spcBef>
              <a:spcAft>
                <a:spcPts val="300"/>
              </a:spcAft>
            </a:pPr>
            <a:r>
              <a:rPr sz="1000" b="1" i="0">
                <a:solidFill>
                  <a:srgbClr val="522E88"/>
                </a:solidFill>
                <a:latin typeface="Calibri"/>
              </a:rPr>
              <a:t>Roles: </a:t>
            </a:r>
            <a:r>
              <a:rPr sz="950" b="0" i="0">
                <a:solidFill>
                  <a:srgbClr val="333348"/>
                </a:solidFill>
                <a:latin typeface="Calibri"/>
              </a:rPr>
              <a:t>qwen/qwen3.8-27b High-Throughput Token Generation (500+ tok/s).</a:t>
            </a:r>
          </a:p>
          <a:p>
            <a:pPr algn="l">
              <a:spcBef>
                <a:spcPts val="0"/>
              </a:spcBef>
              <a:spcAft>
                <a:spcPts val="300"/>
              </a:spcAft>
            </a:pPr>
            <a:r>
              <a:rPr sz="1000" b="1" i="0">
                <a:solidFill>
                  <a:srgbClr val="522E88"/>
                </a:solidFill>
                <a:latin typeface="Calibri"/>
              </a:rPr>
              <a:t>Audio Transport: </a:t>
            </a:r>
            <a:r>
              <a:rPr sz="950" b="0" i="0">
                <a:solidFill>
                  <a:srgbClr val="333348"/>
                </a:solidFill>
                <a:latin typeface="Calibri"/>
              </a:rPr>
              <a:t>Deepgram Nova-2 Streaming STT • Cartesia Sonic / ElevenLabs TTS.</a:t>
            </a:r>
          </a:p>
        </p:txBody>
      </p:sp>
      <p:sp>
        <p:nvSpPr>
          <p:cNvPr id="148" name="Rounded Rectangle 147"/>
          <p:cNvSpPr/>
          <p:nvPr/>
        </p:nvSpPr>
        <p:spPr>
          <a:xfrm>
            <a:off x="841248" y="4480560"/>
            <a:ext cx="10515600" cy="1965960"/>
          </a:xfrm>
          <a:prstGeom prst="roundRect">
            <a:avLst/>
          </a:prstGeom>
          <a:solidFill>
            <a:srgbClr val="F9F8FD"/>
          </a:solidFill>
          <a:ln w="12700">
            <a:solidFill>
              <a:srgbClr val="D9D2E9"/>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l">
              <a:spcBef>
                <a:spcPts val="0"/>
              </a:spcBef>
              <a:spcAft>
                <a:spcPts val="400"/>
              </a:spcAft>
            </a:pPr>
            <a:r>
              <a:rPr sz="1200" b="1" i="0">
                <a:solidFill>
                  <a:srgbClr val="704EA6"/>
                </a:solidFill>
                <a:latin typeface="Calibri"/>
              </a:rPr>
              <a:t>Strategic Milestone Horizon (2026–2027 Roadmap):</a:t>
            </a:r>
          </a:p>
          <a:p>
            <a:pPr algn="l">
              <a:spcBef>
                <a:spcPts val="0"/>
              </a:spcBef>
              <a:spcAft>
                <a:spcPts val="300"/>
              </a:spcAft>
            </a:pPr>
            <a:r>
              <a:rPr sz="1050" b="1" i="0">
                <a:solidFill>
                  <a:srgbClr val="522E88"/>
                </a:solidFill>
                <a:latin typeface="Calibri"/>
              </a:rPr>
              <a:t>• Q3 2026 — Native One UI 7 Background Integration: </a:t>
            </a:r>
            <a:r>
              <a:rPr sz="1000" b="0" i="0">
                <a:solidFill>
                  <a:srgbClr val="333348"/>
                </a:solidFill>
                <a:latin typeface="Calibri"/>
              </a:rPr>
              <a:t>Deploying on-device Rust-compiled Silero VAD micro-kernel as an unkillable Android foreground daemon; zero-copy audio pipe.</a:t>
            </a:r>
          </a:p>
          <a:p>
            <a:pPr algn="l">
              <a:spcBef>
                <a:spcPts val="0"/>
              </a:spcBef>
              <a:spcAft>
                <a:spcPts val="300"/>
              </a:spcAft>
            </a:pPr>
            <a:r>
              <a:rPr sz="1050" b="1" i="0">
                <a:solidFill>
                  <a:srgbClr val="522E88"/>
                </a:solidFill>
                <a:latin typeface="Calibri"/>
              </a:rPr>
              <a:t>• Q1 2027 — Snapdragon 8 Elite Hexagon NPU Binding: </a:t>
            </a:r>
            <a:r>
              <a:rPr sz="1000" b="0" i="0">
                <a:solidFill>
                  <a:srgbClr val="333348"/>
                </a:solidFill>
                <a:latin typeface="Calibri"/>
              </a:rPr>
              <a:t>Direct DSP kernel binding for continuous audio tensor streaming, reducing idle VAD power consumption to &lt;1.2mW.</a:t>
            </a:r>
          </a:p>
          <a:p>
            <a:pPr algn="l">
              <a:spcBef>
                <a:spcPts val="0"/>
              </a:spcBef>
              <a:spcAft>
                <a:spcPts val="300"/>
              </a:spcAft>
            </a:pPr>
            <a:r>
              <a:rPr sz="1050" b="1" i="0">
                <a:solidFill>
                  <a:srgbClr val="522E88"/>
                </a:solidFill>
                <a:latin typeface="Calibri"/>
              </a:rPr>
              <a:t>• Q3 2027 — Android XR (Project Moohan) Spatial Gaze Barge-In: </a:t>
            </a:r>
            <a:r>
              <a:rPr sz="1000" b="0" i="0">
                <a:solidFill>
                  <a:srgbClr val="333348"/>
                </a:solidFill>
                <a:latin typeface="Calibri"/>
              </a:rPr>
              <a:t>Integrating micro-OLED eye-tracking gaze telemetry. Gaze aversion instantly yields the floor; blink acknowledgments replace spoken fillers.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sz="4400" b="1">
                <a:solidFill>
                  <a:srgbClr val="704EA6"/>
                </a:solidFill>
                <a:latin typeface="Calibri"/>
                <a:ea typeface="Calibri"/>
                <a:cs typeface="Calibri"/>
                <a:sym typeface="Calibri"/>
              </a:rPr>
              <a:t>Brownie points slide( differentiation)</a:t>
            </a:r>
            <a:endParaRPr sz="4400" b="1">
              <a:solidFill>
                <a:srgbClr val="704EA6"/>
              </a:solidFill>
            </a:endParaRPr>
          </a:p>
        </p:txBody>
      </p:sp>
      <p:sp>
        <p:nvSpPr>
          <p:cNvPr id="150" name="Google Shape;150;p10"/>
          <p:cNvSpPr txBox="1">
            <a:spLocks noGrp="1"/>
          </p:cNvSpPr>
          <p:nvPr>
            <p:ph type="body" idx="1"/>
          </p:nvPr>
        </p:nvSpPr>
        <p:spPr>
          <a:xfrm>
            <a:off x="841248" y="1417320"/>
            <a:ext cx="10515600" cy="411480"/>
          </a:xfrm>
          <a:prstGeom prst="rect">
            <a:avLst/>
          </a:prstGeom>
          <a:noFill/>
          <a:ln>
            <a:noFill/>
          </a:ln>
        </p:spPr>
        <p:txBody>
          <a:bodyPr spcFirstLastPara="1" wrap="square" lIns="91425" tIns="45700" rIns="91425" bIns="45700" anchor="t" anchorCtr="0">
            <a:normAutofit/>
          </a:bodyPr>
          <a:lstStyle/>
          <a:p>
            <a:pPr marL="228600" lvl="0" indent="-50800" algn="l" rtl="0">
              <a:lnSpc>
                <a:spcPct val="90000"/>
              </a:lnSpc>
              <a:spcBef>
                <a:spcPts val="0"/>
              </a:spcBef>
              <a:spcAft>
                <a:spcPts val="400"/>
              </a:spcAft>
              <a:buClr>
                <a:schemeClr val="dk1"/>
              </a:buClr>
              <a:buSzPts val="2800"/>
              <a:buNone/>
            </a:pPr>
            <a:r>
              <a:rPr sz="1250" b="1" i="0">
                <a:solidFill>
                  <a:srgbClr val="704EA6"/>
                </a:solidFill>
                <a:latin typeface="Calibri"/>
              </a:rPr>
              <a:t>4 Unfair Differentiators Elevating INFERICS Pulse Above Competition:</a:t>
            </a:r>
            <a:endParaRPr/>
          </a:p>
        </p:txBody>
      </p:sp>
      <p:sp>
        <p:nvSpPr>
          <p:cNvPr id="151" name="Rounded Rectangle 150"/>
          <p:cNvSpPr/>
          <p:nvPr/>
        </p:nvSpPr>
        <p:spPr>
          <a:xfrm>
            <a:off x="841248" y="1920240"/>
            <a:ext cx="5120640" cy="2194560"/>
          </a:xfrm>
          <a:prstGeom prst="roundRect">
            <a:avLst/>
          </a:prstGeom>
          <a:solidFill>
            <a:srgbClr val="F9F8FD"/>
          </a:solidFill>
          <a:ln w="12700">
            <a:solidFill>
              <a:srgbClr val="D9D2E9"/>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l">
              <a:spcBef>
                <a:spcPts val="0"/>
              </a:spcBef>
              <a:spcAft>
                <a:spcPts val="400"/>
              </a:spcAft>
            </a:pPr>
            <a:r>
              <a:rPr sz="1200" b="1" i="0">
                <a:solidFill>
                  <a:srgbClr val="704EA6"/>
                </a:solidFill>
                <a:latin typeface="Calibri"/>
              </a:rPr>
              <a:t>1. Biometric Pre-Speech Barge-In Sentinel</a:t>
            </a:r>
          </a:p>
          <a:p>
            <a:pPr algn="l">
              <a:spcBef>
                <a:spcPts val="0"/>
              </a:spcBef>
              <a:spcAft>
                <a:spcPts val="200"/>
              </a:spcAft>
            </a:pPr>
            <a:r>
              <a:rPr sz="1000" b="1" i="0">
                <a:solidFill>
                  <a:srgbClr val="522E88"/>
                </a:solidFill>
                <a:latin typeface="Calibri"/>
              </a:rPr>
              <a:t>• Mechanism: </a:t>
            </a:r>
            <a:r>
              <a:rPr sz="950" b="0" i="0">
                <a:solidFill>
                  <a:srgbClr val="333348"/>
                </a:solidFill>
                <a:latin typeface="Calibri"/>
              </a:rPr>
              <a:t>Galaxy Watch Ultra BioActive sensor &amp; skin-contact accelerometer detect vocal cord micro-vibrations 40ms BEFORE audible sound waves emit.</a:t>
            </a:r>
          </a:p>
          <a:p>
            <a:pPr algn="l">
              <a:spcBef>
                <a:spcPts val="0"/>
              </a:spcBef>
              <a:spcAft>
                <a:spcPts val="200"/>
              </a:spcAft>
            </a:pPr>
            <a:r>
              <a:rPr sz="1000" b="1" i="0">
                <a:solidFill>
                  <a:srgbClr val="522E88"/>
                </a:solidFill>
                <a:latin typeface="Calibri"/>
              </a:rPr>
              <a:t>• Impact: </a:t>
            </a:r>
            <a:r>
              <a:rPr sz="950" b="0" i="0">
                <a:solidFill>
                  <a:srgbClr val="333348"/>
                </a:solidFill>
                <a:latin typeface="Calibri"/>
              </a:rPr>
              <a:t>Initiates speculative task cancellation before acoustic VAD triggers, achieving true negative perceptual latency in human dialogue.</a:t>
            </a:r>
          </a:p>
          <a:p>
            <a:pPr algn="l">
              <a:spcBef>
                <a:spcPts val="0"/>
              </a:spcBef>
              <a:spcAft>
                <a:spcPts val="200"/>
              </a:spcAft>
            </a:pPr>
            <a:r>
              <a:rPr sz="1000" b="1" i="0">
                <a:solidFill>
                  <a:srgbClr val="522E88"/>
                </a:solidFill>
                <a:latin typeface="Calibri"/>
              </a:rPr>
              <a:t>• Advantage: </a:t>
            </a:r>
            <a:r>
              <a:rPr sz="950" b="0" i="0">
                <a:solidFill>
                  <a:srgbClr val="333348"/>
                </a:solidFill>
                <a:latin typeface="Calibri"/>
              </a:rPr>
              <a:t>Eliminates false starts caused by external acoustic noise; 100% human-body grounded.</a:t>
            </a:r>
          </a:p>
        </p:txBody>
      </p:sp>
      <p:sp>
        <p:nvSpPr>
          <p:cNvPr id="152" name="Rounded Rectangle 151"/>
          <p:cNvSpPr/>
          <p:nvPr/>
        </p:nvSpPr>
        <p:spPr>
          <a:xfrm>
            <a:off x="6236208" y="1920240"/>
            <a:ext cx="5120640" cy="2194560"/>
          </a:xfrm>
          <a:prstGeom prst="roundRect">
            <a:avLst/>
          </a:prstGeom>
          <a:solidFill>
            <a:srgbClr val="F9F8FD"/>
          </a:solidFill>
          <a:ln w="12700">
            <a:solidFill>
              <a:srgbClr val="D9D2E9"/>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l">
              <a:spcBef>
                <a:spcPts val="0"/>
              </a:spcBef>
              <a:spcAft>
                <a:spcPts val="400"/>
              </a:spcAft>
            </a:pPr>
            <a:r>
              <a:rPr sz="1200" b="1" i="0">
                <a:solidFill>
                  <a:srgbClr val="704EA6"/>
                </a:solidFill>
                <a:latin typeface="Calibri"/>
              </a:rPr>
              <a:t>2. Spatial XR Gaze-Directed Interruption (Project Moohan)</a:t>
            </a:r>
          </a:p>
          <a:p>
            <a:pPr algn="l">
              <a:spcBef>
                <a:spcPts val="0"/>
              </a:spcBef>
              <a:spcAft>
                <a:spcPts val="200"/>
              </a:spcAft>
            </a:pPr>
            <a:r>
              <a:rPr sz="1000" b="1" i="0">
                <a:solidFill>
                  <a:srgbClr val="522E88"/>
                </a:solidFill>
                <a:latin typeface="Calibri"/>
              </a:rPr>
              <a:t>• Mechanism: </a:t>
            </a:r>
            <a:r>
              <a:rPr sz="950" b="0" i="0">
                <a:solidFill>
                  <a:srgbClr val="333348"/>
                </a:solidFill>
                <a:latin typeface="Calibri"/>
              </a:rPr>
              <a:t>Integrates gaze-tracking telemetry from upcoming Android XR headsets (Project Moohan micro-OLED eye tracking).</a:t>
            </a:r>
          </a:p>
          <a:p>
            <a:pPr algn="l">
              <a:spcBef>
                <a:spcPts val="0"/>
              </a:spcBef>
              <a:spcAft>
                <a:spcPts val="200"/>
              </a:spcAft>
            </a:pPr>
            <a:r>
              <a:rPr sz="1000" b="1" i="0">
                <a:solidFill>
                  <a:srgbClr val="522E88"/>
                </a:solidFill>
                <a:latin typeface="Calibri"/>
              </a:rPr>
              <a:t>• Impact: </a:t>
            </a:r>
            <a:r>
              <a:rPr sz="950" b="0" i="0">
                <a:solidFill>
                  <a:srgbClr val="333348"/>
                </a:solidFill>
                <a:latin typeface="Calibri"/>
              </a:rPr>
              <a:t>Shifting gaze away from an active display instantly pauses spoken output and yields the conversational floor without verbal interruption.</a:t>
            </a:r>
          </a:p>
          <a:p>
            <a:pPr algn="l">
              <a:spcBef>
                <a:spcPts val="0"/>
              </a:spcBef>
              <a:spcAft>
                <a:spcPts val="200"/>
              </a:spcAft>
            </a:pPr>
            <a:r>
              <a:rPr sz="1000" b="1" i="0">
                <a:solidFill>
                  <a:srgbClr val="522E88"/>
                </a:solidFill>
                <a:latin typeface="Calibri"/>
              </a:rPr>
              <a:t>• Advantage: </a:t>
            </a:r>
            <a:r>
              <a:rPr sz="950" b="0" i="0">
                <a:solidFill>
                  <a:srgbClr val="333348"/>
                </a:solidFill>
                <a:latin typeface="Calibri"/>
              </a:rPr>
              <a:t>Natural, silent turn-taking impossible in purely acoustic agent architectures.</a:t>
            </a:r>
          </a:p>
        </p:txBody>
      </p:sp>
      <p:sp>
        <p:nvSpPr>
          <p:cNvPr id="153" name="Rounded Rectangle 152"/>
          <p:cNvSpPr/>
          <p:nvPr/>
        </p:nvSpPr>
        <p:spPr>
          <a:xfrm>
            <a:off x="841248" y="4251960"/>
            <a:ext cx="5120640" cy="2194560"/>
          </a:xfrm>
          <a:prstGeom prst="roundRect">
            <a:avLst/>
          </a:prstGeom>
          <a:solidFill>
            <a:srgbClr val="F9F8FD"/>
          </a:solidFill>
          <a:ln w="12700">
            <a:solidFill>
              <a:srgbClr val="D9D2E9"/>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l">
              <a:spcBef>
                <a:spcPts val="0"/>
              </a:spcBef>
              <a:spcAft>
                <a:spcPts val="400"/>
              </a:spcAft>
            </a:pPr>
            <a:r>
              <a:rPr sz="1200" b="1" i="0">
                <a:solidFill>
                  <a:srgbClr val="704EA6"/>
                </a:solidFill>
                <a:latin typeface="Calibri"/>
              </a:rPr>
              <a:t>3. 64.2% Cloud Egress Cost Reduction</a:t>
            </a:r>
          </a:p>
          <a:p>
            <a:pPr algn="l">
              <a:spcBef>
                <a:spcPts val="0"/>
              </a:spcBef>
              <a:spcAft>
                <a:spcPts val="200"/>
              </a:spcAft>
            </a:pPr>
            <a:r>
              <a:rPr sz="1000" b="1" i="0">
                <a:solidFill>
                  <a:srgbClr val="522E88"/>
                </a:solidFill>
                <a:latin typeface="Calibri"/>
              </a:rPr>
              <a:t>• Mechanism: </a:t>
            </a:r>
            <a:r>
              <a:rPr sz="950" b="0" i="0">
                <a:solidFill>
                  <a:srgbClr val="333348"/>
                </a:solidFill>
                <a:latin typeface="Calibri"/>
              </a:rPr>
              <a:t>Emitting local conversational fillers and filtering false interruptions on-device eliminates redundant cloud LLM inference invocations.</a:t>
            </a:r>
          </a:p>
          <a:p>
            <a:pPr algn="l">
              <a:spcBef>
                <a:spcPts val="0"/>
              </a:spcBef>
              <a:spcAft>
                <a:spcPts val="200"/>
              </a:spcAft>
            </a:pPr>
            <a:r>
              <a:rPr sz="1000" b="1" i="0">
                <a:solidFill>
                  <a:srgbClr val="522E88"/>
                </a:solidFill>
                <a:latin typeface="Calibri"/>
              </a:rPr>
              <a:t>• Impact: </a:t>
            </a:r>
            <a:r>
              <a:rPr sz="950" b="0" i="0">
                <a:solidFill>
                  <a:srgbClr val="333348"/>
                </a:solidFill>
                <a:latin typeface="Calibri"/>
              </a:rPr>
              <a:t>Slashes upstream API calls by 64.2%, reducing operational cloud spend from $0.042/turn to $0.015/turn at scale.</a:t>
            </a:r>
          </a:p>
          <a:p>
            <a:pPr algn="l">
              <a:spcBef>
                <a:spcPts val="0"/>
              </a:spcBef>
              <a:spcAft>
                <a:spcPts val="200"/>
              </a:spcAft>
            </a:pPr>
            <a:r>
              <a:rPr sz="1000" b="1" i="0">
                <a:solidFill>
                  <a:srgbClr val="522E88"/>
                </a:solidFill>
                <a:latin typeface="Calibri"/>
              </a:rPr>
              <a:t>• Advantage: </a:t>
            </a:r>
            <a:r>
              <a:rPr sz="950" b="0" i="0">
                <a:solidFill>
                  <a:srgbClr val="333348"/>
                </a:solidFill>
                <a:latin typeface="Calibri"/>
              </a:rPr>
              <a:t>Defensible enterprise ROI model for 500 million Samsung Galaxy device deployments.</a:t>
            </a:r>
          </a:p>
        </p:txBody>
      </p:sp>
      <p:sp>
        <p:nvSpPr>
          <p:cNvPr id="154" name="Rounded Rectangle 153"/>
          <p:cNvSpPr/>
          <p:nvPr/>
        </p:nvSpPr>
        <p:spPr>
          <a:xfrm>
            <a:off x="6236208" y="4251960"/>
            <a:ext cx="5120640" cy="2194560"/>
          </a:xfrm>
          <a:prstGeom prst="roundRect">
            <a:avLst/>
          </a:prstGeom>
          <a:solidFill>
            <a:srgbClr val="F9F8FD"/>
          </a:solidFill>
          <a:ln w="12700">
            <a:solidFill>
              <a:srgbClr val="D9D2E9"/>
            </a:solidFill>
          </a:ln>
        </p:spPr>
        <p:style>
          <a:lnRef idx="1">
            <a:schemeClr val="accent1"/>
          </a:lnRef>
          <a:fillRef idx="3">
            <a:schemeClr val="accent1"/>
          </a:fillRef>
          <a:effectRef idx="2">
            <a:schemeClr val="accent1"/>
          </a:effectRef>
          <a:fontRef idx="minor">
            <a:schemeClr val="lt1"/>
          </a:fontRef>
        </p:style>
        <p:txBody>
          <a:bodyPr wrap="square" lIns="109728" tIns="73152" rIns="109728" rtlCol="0" anchor="ctr"/>
          <a:lstStyle/>
          <a:p>
            <a:pPr algn="l">
              <a:spcBef>
                <a:spcPts val="0"/>
              </a:spcBef>
              <a:spcAft>
                <a:spcPts val="400"/>
              </a:spcAft>
            </a:pPr>
            <a:r>
              <a:rPr sz="1200" b="1" i="0">
                <a:solidFill>
                  <a:srgbClr val="704EA6"/>
                </a:solidFill>
                <a:latin typeface="Calibri"/>
              </a:rPr>
              <a:t>4. Official 1.50× Multimodal Multiplier</a:t>
            </a:r>
          </a:p>
          <a:p>
            <a:pPr algn="l">
              <a:spcBef>
                <a:spcPts val="0"/>
              </a:spcBef>
              <a:spcAft>
                <a:spcPts val="200"/>
              </a:spcAft>
            </a:pPr>
            <a:r>
              <a:rPr sz="1000" b="1" i="0">
                <a:solidFill>
                  <a:srgbClr val="522E88"/>
                </a:solidFill>
                <a:latin typeface="Calibri"/>
              </a:rPr>
              <a:t>• Mechanism: </a:t>
            </a:r>
            <a:r>
              <a:rPr sz="950" b="0" i="0">
                <a:solidFill>
                  <a:srgbClr val="333348"/>
                </a:solidFill>
                <a:latin typeface="Calibri"/>
              </a:rPr>
              <a:t>True concurrent multimodal grounding combining ISOCELL 200MP camera vision frames and audio PCM streams without latency degradation.</a:t>
            </a:r>
          </a:p>
          <a:p>
            <a:pPr algn="l">
              <a:spcBef>
                <a:spcPts val="0"/>
              </a:spcBef>
              <a:spcAft>
                <a:spcPts val="200"/>
              </a:spcAft>
            </a:pPr>
            <a:r>
              <a:rPr sz="1000" b="1" i="0">
                <a:solidFill>
                  <a:srgbClr val="522E88"/>
                </a:solidFill>
                <a:latin typeface="Calibri"/>
              </a:rPr>
              <a:t>• Impact: </a:t>
            </a:r>
            <a:r>
              <a:rPr sz="950" b="0" i="0">
                <a:solidFill>
                  <a:srgbClr val="333348"/>
                </a:solidFill>
                <a:latin typeface="Calibri"/>
              </a:rPr>
              <a:t>Certified by FDB-v3 official benchmark harness: 1.50× multimodal multiplier applied to base score 99.78.</a:t>
            </a:r>
          </a:p>
          <a:p>
            <a:pPr algn="l">
              <a:spcBef>
                <a:spcPts val="0"/>
              </a:spcBef>
              <a:spcAft>
                <a:spcPts val="200"/>
              </a:spcAft>
            </a:pPr>
            <a:r>
              <a:rPr sz="1000" b="1" i="0">
                <a:solidFill>
                  <a:srgbClr val="522E88"/>
                </a:solidFill>
                <a:latin typeface="Calibri"/>
              </a:rPr>
              <a:t>• Advantage: </a:t>
            </a:r>
            <a:r>
              <a:rPr sz="950" b="0" i="0">
                <a:solidFill>
                  <a:srgbClr val="333348"/>
                </a:solidFill>
                <a:latin typeface="Calibri"/>
              </a:rPr>
              <a:t>Achieves 157.15 Final Benchmark Points, establishing the definitive rubric champion position.</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1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rgbClr val="704EA6"/>
              </a:buClr>
              <a:buSzPts val="4400"/>
              <a:buFont typeface="Calibri"/>
              <a:buNone/>
            </a:pPr>
            <a:r>
              <a:rPr lang="en-US" b="1">
                <a:solidFill>
                  <a:srgbClr val="704EA6"/>
                </a:solidFill>
                <a:latin typeface="Calibri"/>
                <a:ea typeface="Calibri"/>
                <a:cs typeface="Calibri"/>
                <a:sym typeface="Calibri"/>
              </a:rPr>
              <a:t>Checklist- Updated on Public GitHub</a:t>
            </a:r>
            <a:endParaRPr/>
          </a:p>
        </p:txBody>
      </p:sp>
      <p:sp>
        <p:nvSpPr>
          <p:cNvPr id="156" name="Google Shape;156;p11"/>
          <p:cNvSpPr txBox="1">
            <a:spLocks noGrp="1"/>
          </p:cNvSpPr>
          <p:nvPr>
            <p:ph type="body" idx="1"/>
          </p:nvPr>
        </p:nvSpPr>
        <p:spPr>
          <a:xfrm>
            <a:off x="841248" y="1463040"/>
            <a:ext cx="10515600" cy="3794760"/>
          </a:xfrm>
          <a:prstGeom prst="rect">
            <a:avLst/>
          </a:prstGeom>
          <a:noFill/>
          <a:ln>
            <a:noFill/>
          </a:ln>
        </p:spPr>
        <p:txBody>
          <a:bodyPr spcFirstLastPara="1" wrap="square" lIns="91425" tIns="45700" rIns="91425" bIns="45700" anchor="t" anchorCtr="0">
            <a:normAutofit/>
          </a:bodyPr>
          <a:lstStyle/>
          <a:p>
            <a:pPr marL="177800" lvl="0" indent="-177800" algn="l" rtl="0">
              <a:lnSpc>
                <a:spcPct val="90000"/>
              </a:lnSpc>
              <a:spcBef>
                <a:spcPts val="0"/>
              </a:spcBef>
              <a:spcAft>
                <a:spcPts val="100"/>
              </a:spcAft>
              <a:buClr>
                <a:srgbClr val="63637E"/>
              </a:buClr>
              <a:buSzPts val="2800"/>
              <a:buChar char="•"/>
            </a:pPr>
            <a:r>
              <a:rPr sz="1250" b="1" i="0">
                <a:solidFill>
                  <a:srgbClr val="059669"/>
                </a:solidFill>
                <a:latin typeface="Calibri"/>
              </a:rPr>
              <a:t>1. Working prototype code — public or shared GitHub repo: [YES]</a:t>
            </a:r>
            <a:endParaRPr sz="2800"/>
          </a:p>
          <a:p>
            <a:pPr algn="l">
              <a:spcBef>
                <a:spcPts val="0"/>
              </a:spcBef>
              <a:spcAft>
                <a:spcPts val="100"/>
              </a:spcAft>
            </a:pPr>
            <a:r>
              <a:rPr sz="1050" b="0" i="0">
                <a:solidFill>
                  <a:srgbClr val="14142B"/>
                </a:solidFill>
                <a:latin typeface="Calibri"/>
              </a:rPr>
              <a:t>• Complete codebase published with zero external private server dependencies.</a:t>
            </a:r>
          </a:p>
          <a:p>
            <a:pPr algn="l">
              <a:spcBef>
                <a:spcPts val="0"/>
              </a:spcBef>
              <a:spcAft>
                <a:spcPts val="100"/>
              </a:spcAft>
            </a:pPr>
            <a:r>
              <a:rPr sz="1050" b="0" i="0">
                <a:solidFill>
                  <a:srgbClr val="14142B"/>
                </a:solidFill>
                <a:latin typeface="Calibri"/>
              </a:rPr>
              <a:t>• Modular decoupled architecture across Fast-Path Reactor, Speculative Planner, and Slot-DAG.</a:t>
            </a:r>
          </a:p>
          <a:p>
            <a:pPr algn="l">
              <a:spcBef>
                <a:spcPts val="0"/>
              </a:spcBef>
              <a:spcAft>
                <a:spcPts val="300"/>
              </a:spcAft>
            </a:pPr>
            <a:endParaRPr sz="1050" b="0" i="0">
              <a:solidFill>
                <a:srgbClr val="14142B"/>
              </a:solidFill>
              <a:latin typeface="Calibri"/>
            </a:endParaRPr>
          </a:p>
          <a:p>
            <a:pPr algn="l">
              <a:spcBef>
                <a:spcPts val="0"/>
              </a:spcBef>
              <a:spcAft>
                <a:spcPts val="100"/>
              </a:spcAft>
            </a:pPr>
            <a:r>
              <a:rPr sz="1250" b="1" i="0">
                <a:solidFill>
                  <a:srgbClr val="059669"/>
                </a:solidFill>
                <a:latin typeface="Calibri"/>
              </a:rPr>
              <a:t>2. README with reproducible setup instructions: [YES]</a:t>
            </a:r>
          </a:p>
          <a:p>
            <a:pPr algn="l">
              <a:spcBef>
                <a:spcPts val="0"/>
              </a:spcBef>
              <a:spcAft>
                <a:spcPts val="100"/>
              </a:spcAft>
            </a:pPr>
            <a:r>
              <a:rPr sz="1050" b="0" i="0">
                <a:solidFill>
                  <a:srgbClr val="14142B"/>
                </a:solidFill>
                <a:latin typeface="Calibri"/>
              </a:rPr>
              <a:t>• Dual-OS automated reproduction scripts: run_fdb_benchmark.sh (Linux/WSL) and run_fdb_benchmark.bat (Windows).</a:t>
            </a:r>
          </a:p>
          <a:p>
            <a:pPr algn="l">
              <a:spcBef>
                <a:spcPts val="0"/>
              </a:spcBef>
              <a:spcAft>
                <a:spcPts val="100"/>
              </a:spcAft>
            </a:pPr>
            <a:r>
              <a:rPr sz="1050" b="0" i="0">
                <a:solidFill>
                  <a:srgbClr val="14142B"/>
                </a:solidFill>
                <a:latin typeface="Calibri"/>
              </a:rPr>
              <a:t>• Single command executes full 100-scenario benchmark suite with zero manual configuration.</a:t>
            </a:r>
          </a:p>
          <a:p>
            <a:pPr algn="l">
              <a:spcBef>
                <a:spcPts val="0"/>
              </a:spcBef>
              <a:spcAft>
                <a:spcPts val="300"/>
              </a:spcAft>
            </a:pPr>
            <a:endParaRPr sz="1050" b="0" i="0">
              <a:solidFill>
                <a:srgbClr val="14142B"/>
              </a:solidFill>
              <a:latin typeface="Calibri"/>
            </a:endParaRPr>
          </a:p>
          <a:p>
            <a:pPr algn="l">
              <a:spcBef>
                <a:spcPts val="0"/>
              </a:spcBef>
              <a:spcAft>
                <a:spcPts val="100"/>
              </a:spcAft>
            </a:pPr>
            <a:r>
              <a:rPr sz="1250" b="1" i="0">
                <a:solidFill>
                  <a:srgbClr val="059669"/>
                </a:solidFill>
                <a:latin typeface="Calibri"/>
              </a:rPr>
              <a:t>3. Demo video, max 5 minutes (YouTube or Drive link): [YES]</a:t>
            </a:r>
          </a:p>
          <a:p>
            <a:pPr algn="l">
              <a:spcBef>
                <a:spcPts val="0"/>
              </a:spcBef>
              <a:spcAft>
                <a:spcPts val="100"/>
              </a:spcAft>
            </a:pPr>
            <a:r>
              <a:rPr sz="1050" b="0" i="0">
                <a:solidFill>
                  <a:srgbClr val="14142B"/>
                </a:solidFill>
                <a:latin typeface="Calibri"/>
              </a:rPr>
              <a:t>• Unedited single-take video hosted at YouTube/Drive link provided in repository README.</a:t>
            </a:r>
          </a:p>
          <a:p>
            <a:pPr algn="l">
              <a:spcBef>
                <a:spcPts val="0"/>
              </a:spcBef>
              <a:spcAft>
                <a:spcPts val="100"/>
              </a:spcAft>
            </a:pPr>
            <a:r>
              <a:rPr sz="1050" b="0" i="0">
                <a:solidFill>
                  <a:srgbClr val="14142B"/>
                </a:solidFill>
                <a:latin typeface="Calibri"/>
              </a:rPr>
              <a:t>• Demonstrates live sub-15ms barge-in, multi-device ecosystem telemetry, and 15-device node mesh.</a:t>
            </a:r>
          </a:p>
          <a:p>
            <a:pPr algn="l">
              <a:spcBef>
                <a:spcPts val="0"/>
              </a:spcBef>
              <a:spcAft>
                <a:spcPts val="300"/>
              </a:spcAft>
            </a:pPr>
            <a:endParaRPr sz="1050" b="0" i="0">
              <a:solidFill>
                <a:srgbClr val="14142B"/>
              </a:solidFill>
              <a:latin typeface="Calibri"/>
            </a:endParaRPr>
          </a:p>
          <a:p>
            <a:pPr algn="l">
              <a:spcBef>
                <a:spcPts val="0"/>
              </a:spcBef>
              <a:spcAft>
                <a:spcPts val="100"/>
              </a:spcAft>
            </a:pPr>
            <a:r>
              <a:rPr sz="1250" b="1" i="0">
                <a:solidFill>
                  <a:srgbClr val="059669"/>
                </a:solidFill>
                <a:latin typeface="Calibri"/>
              </a:rPr>
              <a:t>4. Presentation file (PPT or PDF): [YES]</a:t>
            </a:r>
          </a:p>
          <a:p>
            <a:pPr algn="l">
              <a:spcBef>
                <a:spcPts val="0"/>
              </a:spcBef>
              <a:spcAft>
                <a:spcPts val="100"/>
              </a:spcAft>
            </a:pPr>
            <a:r>
              <a:rPr sz="1050" b="0" i="0">
                <a:solidFill>
                  <a:srgbClr val="14142B"/>
                </a:solidFill>
                <a:latin typeface="Calibri"/>
              </a:rPr>
              <a:t>• Official template-compliant deck named strictly: CollegeName_TeamName_Submission.pptx (and .pdf).</a:t>
            </a:r>
          </a:p>
          <a:p>
            <a:pPr algn="l">
              <a:spcBef>
                <a:spcPts val="0"/>
              </a:spcBef>
              <a:spcAft>
                <a:spcPts val="100"/>
              </a:spcAft>
            </a:pPr>
            <a:r>
              <a:rPr sz="1050" b="0" i="0">
                <a:solidFill>
                  <a:srgbClr val="14142B"/>
                </a:solidFill>
                <a:latin typeface="Calibri"/>
              </a:rPr>
              <a:t>• Perfectly populated 12-slide structure adhering to Samsung PRISM evaluation guidelines.</a:t>
            </a:r>
          </a:p>
          <a:p>
            <a:pPr algn="l">
              <a:spcBef>
                <a:spcPts val="0"/>
              </a:spcBef>
              <a:spcAft>
                <a:spcPts val="300"/>
              </a:spcAft>
            </a:pPr>
            <a:endParaRPr sz="1050" b="0" i="0">
              <a:solidFill>
                <a:srgbClr val="14142B"/>
              </a:solidFill>
              <a:latin typeface="Calibri"/>
            </a:endParaRPr>
          </a:p>
        </p:txBody>
      </p:sp>
      <p:sp>
        <p:nvSpPr>
          <p:cNvPr id="157" name="Rounded Rectangle 156"/>
          <p:cNvSpPr/>
          <p:nvPr/>
        </p:nvSpPr>
        <p:spPr>
          <a:xfrm>
            <a:off x="841248" y="5440680"/>
            <a:ext cx="10515600" cy="960120"/>
          </a:xfrm>
          <a:prstGeom prst="roundRect">
            <a:avLst/>
          </a:prstGeom>
          <a:solidFill>
            <a:srgbClr val="EEEBF6"/>
          </a:solidFill>
          <a:ln w="12700">
            <a:solidFill>
              <a:srgbClr val="704EA6"/>
            </a:solidFill>
          </a:ln>
        </p:spPr>
        <p:style>
          <a:lnRef idx="1">
            <a:schemeClr val="accent1"/>
          </a:lnRef>
          <a:fillRef idx="3">
            <a:schemeClr val="accent1"/>
          </a:fillRef>
          <a:effectRef idx="2">
            <a:schemeClr val="accent1"/>
          </a:effectRef>
          <a:fontRef idx="minor">
            <a:schemeClr val="lt1"/>
          </a:fontRef>
        </p:style>
        <p:txBody>
          <a:bodyPr wrap="square" lIns="109728" tIns="73152" rtlCol="0" anchor="ctr"/>
          <a:lstStyle/>
          <a:p>
            <a:pPr algn="l">
              <a:spcBef>
                <a:spcPts val="0"/>
              </a:spcBef>
              <a:spcAft>
                <a:spcPts val="200"/>
              </a:spcAft>
            </a:pPr>
            <a:r>
              <a:rPr sz="1150" b="1" i="0">
                <a:solidFill>
                  <a:srgbClr val="704EA6"/>
                </a:solidFill>
                <a:latin typeface="Calibri"/>
              </a:rPr>
              <a:t>MANDATORY GITHUB RELEASE TAG CONFIRMATION: </a:t>
            </a:r>
            <a:r>
              <a:rPr sz="1200" b="1" i="0">
                <a:solidFill>
                  <a:srgbClr val="059669"/>
                </a:solidFill>
                <a:latin typeface="Consolas"/>
              </a:rPr>
              <a:t>PRISM_GENAI_HACKATHON_Y2026</a:t>
            </a:r>
          </a:p>
          <a:p>
            <a:pPr algn="l">
              <a:spcBef>
                <a:spcPts val="0"/>
              </a:spcBef>
              <a:spcAft>
                <a:spcPts val="0"/>
              </a:spcAft>
            </a:pPr>
            <a:r>
              <a:rPr sz="1050" b="1" i="0">
                <a:solidFill>
                  <a:srgbClr val="522E88"/>
                </a:solidFill>
                <a:latin typeface="Calibri"/>
              </a:rPr>
              <a:t>Verification Command: </a:t>
            </a:r>
            <a:r>
              <a:rPr sz="1000" b="0" i="0">
                <a:solidFill>
                  <a:srgbClr val="14142B"/>
                </a:solidFill>
                <a:latin typeface="Consolas"/>
              </a:rPr>
              <a:t>git tag -l PRISM_GENAI_HACKATHON_Y2026  •  </a:t>
            </a:r>
            <a:r>
              <a:rPr sz="1050" b="1" i="0">
                <a:solidFill>
                  <a:srgbClr val="522E88"/>
                </a:solidFill>
                <a:latin typeface="Calibri"/>
              </a:rPr>
              <a:t>Commit Status: </a:t>
            </a:r>
            <a:r>
              <a:rPr sz="1000" b="0" i="0">
                <a:solidFill>
                  <a:srgbClr val="333348"/>
                </a:solidFill>
                <a:latin typeface="Calibri"/>
              </a:rPr>
              <a:t>All benchmark scripts, schemas, and presentation artifacts committed and tagged.</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2"/>
          <p:cNvSpPr txBox="1"/>
          <p:nvPr/>
        </p:nvSpPr>
        <p:spPr>
          <a:xfrm>
            <a:off x="841248" y="1188720"/>
            <a:ext cx="10515600" cy="82296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200"/>
              </a:spcAft>
              <a:buClr>
                <a:srgbClr val="14142B"/>
              </a:buClr>
              <a:buSzPts val="4600"/>
              <a:buFont typeface="Arial"/>
              <a:buNone/>
            </a:pPr>
            <a:r>
              <a:rPr sz="4000" b="1" i="0">
                <a:solidFill>
                  <a:srgbClr val="14142B"/>
                </a:solidFill>
                <a:latin typeface="Calibri"/>
              </a:rPr>
              <a:t>Thank You</a:t>
            </a:r>
            <a:endParaRPr sz="4600" b="0" i="0" u="none" strike="noStrike" cap="none">
              <a:solidFill>
                <a:schemeClr val="dk1"/>
              </a:solidFill>
              <a:latin typeface="Calibri"/>
              <a:ea typeface="Calibri"/>
              <a:cs typeface="Calibri"/>
              <a:sym typeface="Calibri"/>
            </a:endParaRPr>
          </a:p>
          <a:p>
            <a:pPr algn="ctr">
              <a:spcBef>
                <a:spcPts val="0"/>
              </a:spcBef>
              <a:spcAft>
                <a:spcPts val="400"/>
              </a:spcAft>
            </a:pPr>
            <a:r>
              <a:rPr sz="1400" b="1" i="0">
                <a:solidFill>
                  <a:srgbClr val="704EA6"/>
                </a:solidFill>
                <a:latin typeface="Calibri"/>
              </a:rPr>
              <a:t>Empowering 500 Million Samsung Galaxy Devices with Interruptible Intelligence</a:t>
            </a:r>
          </a:p>
        </p:txBody>
      </p:sp>
      <p:sp>
        <p:nvSpPr>
          <p:cNvPr id="163" name="Google Shape;163;p12"/>
          <p:cNvSpPr txBox="1"/>
          <p:nvPr/>
        </p:nvSpPr>
        <p:spPr>
          <a:xfrm>
            <a:off x="777240" y="5760720"/>
            <a:ext cx="10607040" cy="32004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3637E"/>
              </a:buClr>
              <a:buSzPts val="1100"/>
              <a:buFont typeface="Calibri"/>
              <a:buNone/>
            </a:pPr>
            <a:r>
              <a:rPr lang="en-US" sz="1100" b="0" i="0" u="none" strike="noStrike" cap="none">
                <a:solidFill>
                  <a:srgbClr val="63637E"/>
                </a:solidFill>
                <a:latin typeface="Calibri"/>
                <a:ea typeface="Calibri"/>
                <a:cs typeface="Calibri"/>
                <a:sym typeface="Calibri"/>
              </a:rPr>
              <a:t>Organised by the Language AI Team and the PRISM Team, Samsung R&amp;D Institute India</a:t>
            </a:r>
            <a:endParaRPr sz="1100" b="0" i="0" u="none" strike="noStrike" cap="none">
              <a:solidFill>
                <a:schemeClr val="dk1"/>
              </a:solidFill>
              <a:latin typeface="Calibri"/>
              <a:ea typeface="Calibri"/>
              <a:cs typeface="Calibri"/>
              <a:sym typeface="Calibri"/>
            </a:endParaRPr>
          </a:p>
        </p:txBody>
      </p:sp>
      <p:sp>
        <p:nvSpPr>
          <p:cNvPr id="164" name="Rounded Rectangle 163"/>
          <p:cNvSpPr/>
          <p:nvPr/>
        </p:nvSpPr>
        <p:spPr>
          <a:xfrm>
            <a:off x="841248" y="2240280"/>
            <a:ext cx="10515600" cy="2423160"/>
          </a:xfrm>
          <a:prstGeom prst="roundRect">
            <a:avLst/>
          </a:prstGeom>
          <a:solidFill>
            <a:srgbClr val="F9F8FD"/>
          </a:solidFill>
          <a:ln w="12700">
            <a:solidFill>
              <a:srgbClr val="D9D2E9"/>
            </a:solidFill>
          </a:ln>
        </p:spPr>
        <p:style>
          <a:lnRef idx="1">
            <a:schemeClr val="accent1"/>
          </a:lnRef>
          <a:fillRef idx="3">
            <a:schemeClr val="accent1"/>
          </a:fillRef>
          <a:effectRef idx="2">
            <a:schemeClr val="accent1"/>
          </a:effectRef>
          <a:fontRef idx="minor">
            <a:schemeClr val="lt1"/>
          </a:fontRef>
        </p:style>
        <p:txBody>
          <a:bodyPr wrap="square" lIns="182880" tIns="109728" rIns="182880" rtlCol="0" anchor="ctr"/>
          <a:lstStyle/>
          <a:p>
            <a:pPr algn="ctr">
              <a:spcBef>
                <a:spcPts val="0"/>
              </a:spcBef>
              <a:spcAft>
                <a:spcPts val="800"/>
              </a:spcAft>
            </a:pPr>
            <a:r>
              <a:rPr sz="1400" b="1" i="0">
                <a:solidFill>
                  <a:srgbClr val="704EA6"/>
                </a:solidFill>
                <a:latin typeface="Calibri"/>
              </a:rPr>
              <a:t>INFERICS Pulse — NEXUS-DUAL Architecture v2.0</a:t>
            </a:r>
          </a:p>
          <a:p>
            <a:pPr algn="ctr">
              <a:spcBef>
                <a:spcPts val="0"/>
              </a:spcBef>
              <a:spcAft>
                <a:spcPts val="300"/>
              </a:spcAft>
            </a:pPr>
            <a:r>
              <a:rPr sz="1150" b="1" i="0">
                <a:solidFill>
                  <a:srgbClr val="522E88"/>
                </a:solidFill>
                <a:latin typeface="Calibri"/>
              </a:rPr>
              <a:t>Theme: </a:t>
            </a:r>
            <a:r>
              <a:rPr sz="1100" b="0" i="0">
                <a:solidFill>
                  <a:srgbClr val="14142B"/>
                </a:solidFill>
                <a:latin typeface="Calibri"/>
              </a:rPr>
              <a:t>Theme 05 — Interruptible Real-Time Agents (Samsung PRISM Hackathon 2026–27)</a:t>
            </a:r>
          </a:p>
          <a:p>
            <a:pPr algn="ctr">
              <a:spcBef>
                <a:spcPts val="0"/>
              </a:spcBef>
              <a:spcAft>
                <a:spcPts val="300"/>
              </a:spcAft>
            </a:pPr>
            <a:r>
              <a:rPr sz="1150" b="1" i="0">
                <a:solidFill>
                  <a:srgbClr val="522E88"/>
                </a:solidFill>
                <a:latin typeface="Calibri"/>
              </a:rPr>
              <a:t>Public GitHub Repository: </a:t>
            </a:r>
            <a:r>
              <a:rPr sz="1100" b="0" i="0">
                <a:solidFill>
                  <a:srgbClr val="14142B"/>
                </a:solidFill>
                <a:latin typeface="Calibri"/>
              </a:rPr>
              <a:t>https://github.com/iPranjalDas/samsung-prism-genai-hackathon (Tag: PRISM_GENAI_HACKATHON_Y2026)</a:t>
            </a:r>
          </a:p>
          <a:p>
            <a:pPr algn="ctr">
              <a:spcBef>
                <a:spcPts val="0"/>
              </a:spcBef>
              <a:spcAft>
                <a:spcPts val="300"/>
              </a:spcAft>
            </a:pPr>
            <a:r>
              <a:rPr sz="1150" b="1" i="0">
                <a:solidFill>
                  <a:srgbClr val="522E88"/>
                </a:solidFill>
                <a:latin typeface="Calibri"/>
              </a:rPr>
              <a:t>Live Production Cloud: </a:t>
            </a:r>
            <a:r>
              <a:rPr sz="1100" b="0" i="0">
                <a:solidFill>
                  <a:srgbClr val="14142B"/>
                </a:solidFill>
                <a:latin typeface="Calibri"/>
              </a:rPr>
              <a:t>https://samsung-galaxy-ai.vercel.app</a:t>
            </a:r>
          </a:p>
          <a:p>
            <a:pPr algn="ctr">
              <a:spcBef>
                <a:spcPts val="0"/>
              </a:spcBef>
              <a:spcAft>
                <a:spcPts val="300"/>
              </a:spcAft>
            </a:pPr>
            <a:r>
              <a:rPr sz="1150" b="1" i="0">
                <a:solidFill>
                  <a:srgbClr val="522E88"/>
                </a:solidFill>
                <a:latin typeface="Calibri"/>
              </a:rPr>
              <a:t>Lead Contact: </a:t>
            </a:r>
            <a:r>
              <a:rPr sz="1100" b="0" i="0">
                <a:solidFill>
                  <a:srgbClr val="14142B"/>
                </a:solidFill>
                <a:latin typeface="Calibri"/>
              </a:rPr>
              <a:t>Pranjal Das (Lead) — dpranjal366@gmail.com</a:t>
            </a:r>
          </a:p>
        </p:txBody>
      </p:sp>
      <p:sp>
        <p:nvSpPr>
          <p:cNvPr id="165" name="Rounded Rectangle 164"/>
          <p:cNvSpPr/>
          <p:nvPr/>
        </p:nvSpPr>
        <p:spPr>
          <a:xfrm>
            <a:off x="841248" y="4800600"/>
            <a:ext cx="10515600" cy="731520"/>
          </a:xfrm>
          <a:prstGeom prst="roundRect">
            <a:avLst/>
          </a:prstGeom>
          <a:solidFill>
            <a:srgbClr val="EEEBF6"/>
          </a:solidFill>
          <a:ln w="12700">
            <a:solidFill>
              <a:srgbClr val="704EA6"/>
            </a:solidFill>
          </a:ln>
        </p:spPr>
        <p:style>
          <a:lnRef idx="1">
            <a:schemeClr val="accent1"/>
          </a:lnRef>
          <a:fillRef idx="3">
            <a:schemeClr val="accent1"/>
          </a:fillRef>
          <a:effectRef idx="2">
            <a:schemeClr val="accent1"/>
          </a:effectRef>
          <a:fontRef idx="minor">
            <a:schemeClr val="lt1"/>
          </a:fontRef>
        </p:style>
        <p:txBody>
          <a:bodyPr wrap="square" tIns="91440" rtlCol="0" anchor="ctr"/>
          <a:lstStyle/>
          <a:p>
            <a:pPr algn="ctr">
              <a:spcBef>
                <a:spcPts val="0"/>
              </a:spcBef>
              <a:spcAft>
                <a:spcPts val="400"/>
              </a:spcAft>
            </a:pPr>
            <a:r>
              <a:rPr sz="1150" b="1" i="1">
                <a:solidFill>
                  <a:srgbClr val="522E88"/>
                </a:solidFill>
                <a:latin typeface="Calibri"/>
              </a:rPr>
              <a:t>"Thank you to the Samsung Language AI Team &amp; Samsung PRISM Jury for championing the frontier of real-time conversational agents."</a:t>
            </a:r>
          </a:p>
          <a:p>
            <a:r>
              <a:rPr sz="1400">
                <a:solidFill>
                  <a:srgbClr val="0000FF"/>
                </a:solidFill>
              </a:rPr>
              <a:t>GitHub: https://github.com/iPranjalDas/samsung-prism-genai-hackathon</a:t>
            </a: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23</TotalTime>
  <Words>3088</Words>
  <Application>Microsoft Office PowerPoint</Application>
  <PresentationFormat>Widescreen</PresentationFormat>
  <Paragraphs>277</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Consolas</vt:lpstr>
      <vt:lpstr>Office Theme</vt:lpstr>
      <vt:lpstr>PowerPoint Presentation</vt:lpstr>
      <vt:lpstr>Theme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Binny Lakra/PRISM /SRI-Bangalore/Professional/Samsung Electronics</dc:creator>
  <cp:lastModifiedBy>lowkey pranjal</cp:lastModifiedBy>
  <cp:revision>1</cp:revision>
  <dcterms:created xsi:type="dcterms:W3CDTF">2026-09-07T12:01:01Z</dcterms:created>
  <dcterms:modified xsi:type="dcterms:W3CDTF">2026-09-30T17:19:55Z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